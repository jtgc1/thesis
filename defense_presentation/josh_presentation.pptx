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42" r:id="rId4"/>
    <p:sldMasterId id="2147483932" r:id="rId5"/>
    <p:sldMasterId id="2147483986" r:id="rId6"/>
    <p:sldMasterId id="2147484008" r:id="rId7"/>
  </p:sldMasterIdLst>
  <p:notesMasterIdLst>
    <p:notesMasterId r:id="rId60"/>
  </p:notesMasterIdLst>
  <p:sldIdLst>
    <p:sldId id="309" r:id="rId8"/>
    <p:sldId id="363" r:id="rId9"/>
    <p:sldId id="405" r:id="rId10"/>
    <p:sldId id="364" r:id="rId11"/>
    <p:sldId id="366" r:id="rId12"/>
    <p:sldId id="367" r:id="rId13"/>
    <p:sldId id="351" r:id="rId14"/>
    <p:sldId id="370" r:id="rId15"/>
    <p:sldId id="406" r:id="rId16"/>
    <p:sldId id="407" r:id="rId17"/>
    <p:sldId id="409" r:id="rId18"/>
    <p:sldId id="411" r:id="rId19"/>
    <p:sldId id="408" r:id="rId20"/>
    <p:sldId id="410" r:id="rId21"/>
    <p:sldId id="412" r:id="rId22"/>
    <p:sldId id="414" r:id="rId23"/>
    <p:sldId id="416" r:id="rId24"/>
    <p:sldId id="417" r:id="rId25"/>
    <p:sldId id="419" r:id="rId26"/>
    <p:sldId id="420" r:id="rId27"/>
    <p:sldId id="421" r:id="rId28"/>
    <p:sldId id="422" r:id="rId29"/>
    <p:sldId id="355" r:id="rId30"/>
    <p:sldId id="356" r:id="rId31"/>
    <p:sldId id="424" r:id="rId32"/>
    <p:sldId id="425" r:id="rId33"/>
    <p:sldId id="357" r:id="rId34"/>
    <p:sldId id="426" r:id="rId35"/>
    <p:sldId id="427" r:id="rId36"/>
    <p:sldId id="386" r:id="rId37"/>
    <p:sldId id="430" r:id="rId38"/>
    <p:sldId id="431" r:id="rId39"/>
    <p:sldId id="394" r:id="rId40"/>
    <p:sldId id="432" r:id="rId41"/>
    <p:sldId id="398" r:id="rId42"/>
    <p:sldId id="433" r:id="rId43"/>
    <p:sldId id="358" r:id="rId44"/>
    <p:sldId id="392" r:id="rId45"/>
    <p:sldId id="396" r:id="rId46"/>
    <p:sldId id="361" r:id="rId47"/>
    <p:sldId id="399" r:id="rId48"/>
    <p:sldId id="401" r:id="rId49"/>
    <p:sldId id="400" r:id="rId50"/>
    <p:sldId id="362" r:id="rId51"/>
    <p:sldId id="381" r:id="rId52"/>
    <p:sldId id="397" r:id="rId53"/>
    <p:sldId id="391" r:id="rId54"/>
    <p:sldId id="393" r:id="rId55"/>
    <p:sldId id="395" r:id="rId56"/>
    <p:sldId id="346" r:id="rId57"/>
    <p:sldId id="373" r:id="rId58"/>
    <p:sldId id="348" r:id="rId5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per Figures" id="{4C049FB5-6BE7-3A4B-A08F-D3BCF1AC53D9}">
          <p14:sldIdLst>
            <p14:sldId id="309"/>
            <p14:sldId id="363"/>
            <p14:sldId id="405"/>
            <p14:sldId id="364"/>
            <p14:sldId id="366"/>
            <p14:sldId id="367"/>
            <p14:sldId id="351"/>
            <p14:sldId id="370"/>
            <p14:sldId id="406"/>
            <p14:sldId id="407"/>
            <p14:sldId id="409"/>
            <p14:sldId id="411"/>
            <p14:sldId id="408"/>
            <p14:sldId id="410"/>
            <p14:sldId id="412"/>
            <p14:sldId id="414"/>
            <p14:sldId id="416"/>
            <p14:sldId id="417"/>
            <p14:sldId id="419"/>
            <p14:sldId id="420"/>
            <p14:sldId id="421"/>
            <p14:sldId id="422"/>
            <p14:sldId id="355"/>
            <p14:sldId id="356"/>
            <p14:sldId id="424"/>
            <p14:sldId id="425"/>
            <p14:sldId id="357"/>
            <p14:sldId id="426"/>
            <p14:sldId id="427"/>
            <p14:sldId id="386"/>
            <p14:sldId id="430"/>
            <p14:sldId id="431"/>
            <p14:sldId id="394"/>
            <p14:sldId id="432"/>
            <p14:sldId id="398"/>
            <p14:sldId id="433"/>
            <p14:sldId id="358"/>
            <p14:sldId id="392"/>
            <p14:sldId id="396"/>
            <p14:sldId id="361"/>
            <p14:sldId id="399"/>
            <p14:sldId id="401"/>
            <p14:sldId id="400"/>
            <p14:sldId id="362"/>
          </p14:sldIdLst>
        </p14:section>
        <p14:section name="Extra Slides" id="{0C89E732-502C-4C7C-9452-8DA31BAE570C}">
          <p14:sldIdLst>
            <p14:sldId id="381"/>
            <p14:sldId id="397"/>
            <p14:sldId id="391"/>
            <p14:sldId id="393"/>
            <p14:sldId id="395"/>
            <p14:sldId id="346"/>
            <p14:sldId id="373"/>
            <p14:sldId id="3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C8C7B-DEAE-A631-3679-D44CF5032F50}" name="Olivia Masella" initials="OM" userId="S::omasella@uvic.ca::c3ebdfb6-98e0-4bf8-8537-beef308b34d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582D"/>
    <a:srgbClr val="0000FF"/>
    <a:srgbClr val="FF8C00"/>
    <a:srgbClr val="007E00"/>
    <a:srgbClr val="90EE90"/>
    <a:srgbClr val="0073BC"/>
    <a:srgbClr val="26A739"/>
    <a:srgbClr val="1675D4"/>
    <a:srgbClr val="115AA2"/>
    <a:srgbClr val="002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5" autoAdjust="0"/>
    <p:restoredTop sz="95039" autoAdjust="0"/>
  </p:normalViewPr>
  <p:slideViewPr>
    <p:cSldViewPr snapToGrid="0" snapToObjects="1" showGuides="1">
      <p:cViewPr varScale="1">
        <p:scale>
          <a:sx n="99" d="100"/>
          <a:sy n="99" d="100"/>
        </p:scale>
        <p:origin x="82" y="154"/>
      </p:cViewPr>
      <p:guideLst>
        <p:guide orient="horz" pos="164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notesMaster" Target="notesMasters/notesMaster1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74CC1-50B6-A346-9F2F-A73D55FF36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25CF2-3302-D948-BF01-550CF443B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0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12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Add an explanation for %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9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Remove the other ones from this</a:t>
            </a:r>
          </a:p>
          <a:p>
            <a:endParaRPr lang="en-CA" dirty="0"/>
          </a:p>
          <a:p>
            <a:r>
              <a:rPr lang="en-CA" dirty="0"/>
              <a:t>We did these ones BECAUSE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7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17E9-209F-091B-1667-66669D14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C6087-3DC7-E3FA-63EC-788001D2A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0E37C-A603-4199-8397-6DD34EEFA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Remove the other ones from this</a:t>
            </a:r>
          </a:p>
          <a:p>
            <a:endParaRPr lang="en-CA" dirty="0"/>
          </a:p>
          <a:p>
            <a:r>
              <a:rPr lang="en-CA" dirty="0"/>
              <a:t>We did these ones BECAUSE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C3A5A-D716-06B1-0701-2A18D44EE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55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Change this so that it is just “and there is Kriging” and move this to the end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53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Only one model for all of these</a:t>
            </a:r>
          </a:p>
          <a:p>
            <a:endParaRPr lang="en-CA" dirty="0"/>
          </a:p>
          <a:p>
            <a:r>
              <a:rPr lang="en-CA" dirty="0"/>
              <a:t>Talk about the box plots more.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14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BAEF-ACA4-A104-55BC-80C92E30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A8F4E-495B-1534-312C-FC6CB1094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E0F4D-8DE8-B877-31E4-35CD8E65E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Only one model for all of these</a:t>
            </a:r>
          </a:p>
          <a:p>
            <a:endParaRPr lang="en-CA" dirty="0"/>
          </a:p>
          <a:p>
            <a:r>
              <a:rPr lang="en-CA" dirty="0"/>
              <a:t>Talk about the box plots more.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7E467-FDAE-1443-6FE5-047877F3C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4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Add the graphic at the start to show where the sensors are for each of these sensor count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05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Real-World results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47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Name it finding </a:t>
            </a:r>
          </a:p>
          <a:p>
            <a:r>
              <a:rPr lang="en-CA" dirty="0"/>
              <a:t>Try starting with this figure in the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39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Cut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89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909D-5583-F6A4-B783-8DE6F219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5179"/>
            <a:ext cx="4873792" cy="993775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36EB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DCB72-543D-0AC5-4C76-E0BC49233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075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CE29-7529-38B8-8F9E-CFFF80CF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5C58-2CD4-D126-B408-B16F4949D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41" y="1185529"/>
            <a:ext cx="3867150" cy="3595017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C72F3-2C9E-B99D-C021-179717306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4452" y="1185530"/>
            <a:ext cx="3867150" cy="3595016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8245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909D-5583-F6A4-B783-8DE6F219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245179"/>
            <a:ext cx="5034213" cy="993775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3668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7E1A-E7E1-2EE6-CC35-03F8B51C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4EAF-EFA5-42AE-B3E2-800F911DE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61" y="1187115"/>
            <a:ext cx="8226591" cy="3525420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95FA5-EB1A-BE37-A84D-D43D682DF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A2A0D-DF00-524A-8C30-A70C6F9D80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0049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CE29-7529-38B8-8F9E-CFFF80CF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5C58-2CD4-D126-B408-B16F4949D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41" y="1185529"/>
            <a:ext cx="3867150" cy="3595017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C72F3-2C9E-B99D-C021-179717306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4452" y="1185530"/>
            <a:ext cx="3867150" cy="3595016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9768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CE29-7529-38B8-8F9E-CFFF80CFB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41" y="274638"/>
            <a:ext cx="3798970" cy="1217278"/>
          </a:xfrm>
        </p:spPr>
        <p:txBody>
          <a:bodyPr/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5C58-2CD4-D126-B408-B16F4949D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41" y="1652337"/>
            <a:ext cx="3798970" cy="3064042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5407534-7220-C9EE-B470-1582C22D62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27621" y="1"/>
            <a:ext cx="4716379" cy="48688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8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F1A3485-A06D-A24B-1739-BE459E5D41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8609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97E1A-E7E1-2EE6-CC35-03F8B51CA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3627"/>
            <a:ext cx="7886700" cy="69590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241735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AFEB3-3BD0-79FD-E8F9-856564D877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8607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76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7E1A-E7E1-2EE6-CC35-03F8B51CA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274638"/>
            <a:ext cx="8162422" cy="695909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4EAF-EFA5-42AE-B3E2-800F911DE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61" y="1187115"/>
            <a:ext cx="8154401" cy="3525420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26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CE29-7529-38B8-8F9E-CFFF80CF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5C58-2CD4-D126-B408-B16F4949D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41" y="1185529"/>
            <a:ext cx="3867150" cy="3595017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C72F3-2C9E-B99D-C021-179717306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85530"/>
            <a:ext cx="3867150" cy="3595016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714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CE29-7529-38B8-8F9E-CFFF80CFB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41" y="274638"/>
            <a:ext cx="3798970" cy="1217278"/>
          </a:xfrm>
        </p:spPr>
        <p:txBody>
          <a:bodyPr/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5C58-2CD4-D126-B408-B16F4949D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41" y="1652337"/>
            <a:ext cx="3798970" cy="3064042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5407534-7220-C9EE-B470-1582C22D62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27621" y="1"/>
            <a:ext cx="4716379" cy="48688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8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6B9D62-5DC2-0515-28E2-106660999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80BA8-CD9E-2E5F-22CB-EDF411BC4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4C432-C8D7-5E43-A060-3C5EAABCA8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88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4013" r:id="rId2"/>
  </p:sldLayoutIdLst>
  <p:hf sldNum="0" hdr="0" dt="0"/>
  <p:txStyles>
    <p:titleStyle>
      <a:lvl1pPr algn="l" defTabSz="514350" rtl="0" eaLnBrk="1" latinLnBrk="0" hangingPunct="1">
        <a:lnSpc>
          <a:spcPts val="4300"/>
        </a:lnSpc>
        <a:spcBef>
          <a:spcPct val="0"/>
        </a:spcBef>
        <a:buNone/>
        <a:defRPr sz="4200" b="0" i="0" kern="1200" cap="none" baseline="0">
          <a:solidFill>
            <a:schemeClr val="tx2"/>
          </a:solidFill>
          <a:latin typeface="Noto Sans Light" panose="020B0402040504020204" pitchFamily="34" charset="0"/>
          <a:ea typeface="+mj-ea"/>
          <a:cs typeface="Noto Sans Light" panose="020B0402040504020204" pitchFamily="34" charset="0"/>
        </a:defRPr>
      </a:lvl1pPr>
    </p:titleStyle>
    <p:bodyStyle>
      <a:lvl1pPr marL="0" marR="0" indent="0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Tx/>
        <a:buNone/>
        <a:tabLst/>
        <a:defRPr sz="28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1pPr>
      <a:lvl2pPr marL="403225" marR="0" indent="-223838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2pPr>
      <a:lvl3pPr marL="628650" marR="0" indent="-225425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3pPr>
      <a:lvl4pPr marL="808038" marR="0" indent="-179388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4pPr>
      <a:lvl5pPr marL="989013" marR="0" indent="-180975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272" userDrawn="1">
          <p15:clr>
            <a:srgbClr val="F26B43"/>
          </p15:clr>
        </p15:guide>
        <p15:guide id="6" pos="5488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</p:sldLayoutIdLst>
  <p:hf sldNum="0" hdr="0" dt="0"/>
  <p:txStyles>
    <p:titleStyle>
      <a:lvl1pPr algn="l" defTabSz="514350" rtl="0" eaLnBrk="1" latinLnBrk="0" hangingPunct="1">
        <a:lnSpc>
          <a:spcPts val="4300"/>
        </a:lnSpc>
        <a:spcBef>
          <a:spcPct val="0"/>
        </a:spcBef>
        <a:buNone/>
        <a:defRPr sz="4200" b="0" i="0" kern="1200" cap="none" baseline="0">
          <a:solidFill>
            <a:schemeClr val="tx2"/>
          </a:solidFill>
          <a:latin typeface="Noto Sans Light" panose="020B0402040504020204" pitchFamily="34" charset="0"/>
          <a:ea typeface="+mj-ea"/>
          <a:cs typeface="Noto Sans Light" panose="020B0402040504020204" pitchFamily="34" charset="0"/>
        </a:defRPr>
      </a:lvl1pPr>
    </p:titleStyle>
    <p:bodyStyle>
      <a:lvl1pPr marL="0" marR="0" indent="0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Tx/>
        <a:buNone/>
        <a:tabLst/>
        <a:defRPr sz="28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1pPr>
      <a:lvl2pPr marL="403225" marR="0" indent="-223838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2pPr>
      <a:lvl3pPr marL="628650" marR="0" indent="-225425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3pPr>
      <a:lvl4pPr marL="808038" marR="0" indent="-179388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4pPr>
      <a:lvl5pPr marL="989013" marR="0" indent="-180975" algn="l" defTabSz="51435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Noto Sans Light" panose="020B0402040504020204" pitchFamily="34" charset="0"/>
          <a:ea typeface="+mn-ea"/>
          <a:cs typeface="Noto Sans Light" panose="020B0402040504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272" userDrawn="1">
          <p15:clr>
            <a:srgbClr val="F26B43"/>
          </p15:clr>
        </p15:guide>
        <p15:guide id="6" pos="5488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CA1F4-A1E8-AB66-6187-7C9EAB63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274638"/>
            <a:ext cx="8234612" cy="69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1A40C-A7D6-F091-3A92-CB442D85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41" y="1187116"/>
            <a:ext cx="8234612" cy="3445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BC2E2-7C56-E4B2-C66A-53270AF8F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A2A0D-DF00-524A-8C30-A70C6F9D80D4}" type="slidenum">
              <a:rPr lang="en-CA" smtClean="0"/>
              <a:t>‹#›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FE55E-233A-0913-C00A-725258495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427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90" r:id="rId2"/>
    <p:sldLayoutId id="2147484011" r:id="rId3"/>
    <p:sldLayoutId id="2147483997" r:id="rId4"/>
    <p:sldLayoutId id="2147483995" r:id="rId5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baseline="0">
          <a:solidFill>
            <a:srgbClr val="036EB3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36EB3"/>
        </a:buClr>
        <a:buFont typeface="Arial" panose="020B0604020202020204" pitchFamily="34" charset="0"/>
        <a:buChar char="•"/>
        <a:defRPr sz="24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36EB3"/>
        </a:buClr>
        <a:buFont typeface="Arial" panose="020B0604020202020204" pitchFamily="34" charset="0"/>
        <a:buChar char="•"/>
        <a:defRPr sz="20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CA1F4-A1E8-AB66-6187-7C9EAB63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0" y="274638"/>
            <a:ext cx="8154401" cy="69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1A40C-A7D6-F091-3A92-CB442D856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041" y="1187116"/>
            <a:ext cx="8154400" cy="3445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940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2" r:id="rId3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baseline="0">
          <a:solidFill>
            <a:srgbClr val="FFFFFF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36EB3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36EB3"/>
        </a:buClr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2858"/>
          </a:solidFill>
          <a:latin typeface="Noto Sans Light" panose="020B0402040504020204" pitchFamily="34" charset="0"/>
          <a:ea typeface="Noto Sans Light" panose="020B0402040504020204" pitchFamily="34" charset="0"/>
          <a:cs typeface="Noto Sans Light" panose="020B040204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74A5-0B2D-38C6-64C4-FD023B22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020944"/>
            <a:ext cx="5799990" cy="2848068"/>
          </a:xfrm>
        </p:spPr>
        <p:txBody>
          <a:bodyPr/>
          <a:lstStyle/>
          <a:p>
            <a:r>
              <a:rPr lang="en-CA" sz="3000" dirty="0"/>
              <a:t>Analysis and Comparison of Spatial Interpolation Methods for Modelling the Movement and Remediation of Hydrocarbons in Soil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B814B-E505-BF0A-0DE9-24734A33442C}"/>
              </a:ext>
            </a:extLst>
          </p:cNvPr>
          <p:cNvSpPr txBox="1"/>
          <p:nvPr/>
        </p:nvSpPr>
        <p:spPr>
          <a:xfrm>
            <a:off x="375044" y="4122556"/>
            <a:ext cx="524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By Joshua Chapman</a:t>
            </a:r>
          </a:p>
          <a:p>
            <a:r>
              <a:rPr lang="en-CA" dirty="0"/>
              <a:t>Supervised by Dr. Kevin Stanley</a:t>
            </a:r>
          </a:p>
        </p:txBody>
      </p:sp>
    </p:spTree>
    <p:extLst>
      <p:ext uri="{BB962C8B-B14F-4D97-AF65-F5344CB8AC3E}">
        <p14:creationId xmlns:p14="http://schemas.microsoft.com/office/powerpoint/2010/main" val="201099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DEE3-9728-F13A-85F5-A990CEC8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55B90E5-C65C-1288-C2B6-CF90FC40D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29" t="16264" r="31509" b="6977"/>
          <a:stretch>
            <a:fillRect/>
          </a:stretch>
        </p:blipFill>
        <p:spPr>
          <a:xfrm>
            <a:off x="1681278" y="992849"/>
            <a:ext cx="4744401" cy="3434030"/>
          </a:xfrm>
          <a:prstGeom prst="round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2F03A-4ED5-E163-36EA-968DC4C53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41" y="9976"/>
            <a:ext cx="7917887" cy="695909"/>
          </a:xfrm>
        </p:spPr>
        <p:txBody>
          <a:bodyPr>
            <a:normAutofit/>
          </a:bodyPr>
          <a:lstStyle/>
          <a:p>
            <a:r>
              <a:rPr lang="en-CA" sz="2500" dirty="0"/>
              <a:t>3D Interpolation of Petroleum Hydrocarbons (PHC)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117AEE1-50EE-141A-E95D-10F21D7F1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218" y="2342858"/>
            <a:ext cx="297269" cy="403981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C290299-13D5-C57A-3778-2F6030BD6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4487" y="2260308"/>
            <a:ext cx="1328331" cy="6959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1800" dirty="0"/>
              <a:t>Sensor Stake Location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CA1EC82-FDD9-A64C-5958-038B74D6777A}"/>
              </a:ext>
            </a:extLst>
          </p:cNvPr>
          <p:cNvSpPr/>
          <p:nvPr/>
        </p:nvSpPr>
        <p:spPr>
          <a:xfrm>
            <a:off x="1712541" y="1169126"/>
            <a:ext cx="4153988" cy="3236393"/>
          </a:xfrm>
          <a:custGeom>
            <a:avLst/>
            <a:gdLst>
              <a:gd name="csX0" fmla="*/ 1476102 w 4153988"/>
              <a:gd name="csY0" fmla="*/ 476794 h 3236393"/>
              <a:gd name="csX1" fmla="*/ 1365068 w 4153988"/>
              <a:gd name="csY1" fmla="*/ 313508 h 3236393"/>
              <a:gd name="csX2" fmla="*/ 1332411 w 4153988"/>
              <a:gd name="csY2" fmla="*/ 293914 h 3236393"/>
              <a:gd name="csX3" fmla="*/ 1280160 w 4153988"/>
              <a:gd name="csY3" fmla="*/ 241663 h 3236393"/>
              <a:gd name="csX4" fmla="*/ 1110342 w 4153988"/>
              <a:gd name="csY4" fmla="*/ 104503 h 3236393"/>
              <a:gd name="csX5" fmla="*/ 1058091 w 4153988"/>
              <a:gd name="csY5" fmla="*/ 84908 h 3236393"/>
              <a:gd name="csX6" fmla="*/ 1018902 w 4153988"/>
              <a:gd name="csY6" fmla="*/ 71845 h 3236393"/>
              <a:gd name="csX7" fmla="*/ 966651 w 4153988"/>
              <a:gd name="csY7" fmla="*/ 45720 h 3236393"/>
              <a:gd name="csX8" fmla="*/ 822960 w 4153988"/>
              <a:gd name="csY8" fmla="*/ 6531 h 3236393"/>
              <a:gd name="csX9" fmla="*/ 613954 w 4153988"/>
              <a:gd name="csY9" fmla="*/ 0 h 3236393"/>
              <a:gd name="csX10" fmla="*/ 463731 w 4153988"/>
              <a:gd name="csY10" fmla="*/ 6531 h 3236393"/>
              <a:gd name="csX11" fmla="*/ 437605 w 4153988"/>
              <a:gd name="csY11" fmla="*/ 19594 h 3236393"/>
              <a:gd name="csX12" fmla="*/ 398417 w 4153988"/>
              <a:gd name="csY12" fmla="*/ 26125 h 3236393"/>
              <a:gd name="csX13" fmla="*/ 300445 w 4153988"/>
              <a:gd name="csY13" fmla="*/ 52251 h 3236393"/>
              <a:gd name="csX14" fmla="*/ 254725 w 4153988"/>
              <a:gd name="csY14" fmla="*/ 58783 h 3236393"/>
              <a:gd name="csX15" fmla="*/ 137160 w 4153988"/>
              <a:gd name="csY15" fmla="*/ 91440 h 3236393"/>
              <a:gd name="csX16" fmla="*/ 117565 w 4153988"/>
              <a:gd name="csY16" fmla="*/ 104503 h 3236393"/>
              <a:gd name="csX17" fmla="*/ 84908 w 4153988"/>
              <a:gd name="csY17" fmla="*/ 117565 h 3236393"/>
              <a:gd name="csX18" fmla="*/ 26125 w 4153988"/>
              <a:gd name="csY18" fmla="*/ 209005 h 3236393"/>
              <a:gd name="csX19" fmla="*/ 13062 w 4153988"/>
              <a:gd name="csY19" fmla="*/ 261257 h 3236393"/>
              <a:gd name="csX20" fmla="*/ 6531 w 4153988"/>
              <a:gd name="csY20" fmla="*/ 320040 h 3236393"/>
              <a:gd name="csX21" fmla="*/ 0 w 4153988"/>
              <a:gd name="csY21" fmla="*/ 372291 h 3236393"/>
              <a:gd name="csX22" fmla="*/ 13062 w 4153988"/>
              <a:gd name="csY22" fmla="*/ 646611 h 3236393"/>
              <a:gd name="csX23" fmla="*/ 45720 w 4153988"/>
              <a:gd name="csY23" fmla="*/ 751114 h 3236393"/>
              <a:gd name="csX24" fmla="*/ 91440 w 4153988"/>
              <a:gd name="csY24" fmla="*/ 822960 h 3236393"/>
              <a:gd name="csX25" fmla="*/ 143691 w 4153988"/>
              <a:gd name="csY25" fmla="*/ 875211 h 3236393"/>
              <a:gd name="csX26" fmla="*/ 182880 w 4153988"/>
              <a:gd name="csY26" fmla="*/ 907868 h 3236393"/>
              <a:gd name="csX27" fmla="*/ 248194 w 4153988"/>
              <a:gd name="csY27" fmla="*/ 973183 h 3236393"/>
              <a:gd name="csX28" fmla="*/ 333102 w 4153988"/>
              <a:gd name="csY28" fmla="*/ 1077685 h 3236393"/>
              <a:gd name="csX29" fmla="*/ 372291 w 4153988"/>
              <a:gd name="csY29" fmla="*/ 1123405 h 3236393"/>
              <a:gd name="csX30" fmla="*/ 391885 w 4153988"/>
              <a:gd name="csY30" fmla="*/ 1156063 h 3236393"/>
              <a:gd name="csX31" fmla="*/ 437605 w 4153988"/>
              <a:gd name="csY31" fmla="*/ 1201783 h 3236393"/>
              <a:gd name="csX32" fmla="*/ 489857 w 4153988"/>
              <a:gd name="csY32" fmla="*/ 1273628 h 3236393"/>
              <a:gd name="csX33" fmla="*/ 542108 w 4153988"/>
              <a:gd name="csY33" fmla="*/ 1352005 h 3236393"/>
              <a:gd name="csX34" fmla="*/ 568234 w 4153988"/>
              <a:gd name="csY34" fmla="*/ 1423851 h 3236393"/>
              <a:gd name="csX35" fmla="*/ 581297 w 4153988"/>
              <a:gd name="csY35" fmla="*/ 1476103 h 3236393"/>
              <a:gd name="csX36" fmla="*/ 594360 w 4153988"/>
              <a:gd name="csY36" fmla="*/ 1521823 h 3236393"/>
              <a:gd name="csX37" fmla="*/ 600891 w 4153988"/>
              <a:gd name="csY37" fmla="*/ 1574074 h 3236393"/>
              <a:gd name="csX38" fmla="*/ 607422 w 4153988"/>
              <a:gd name="csY38" fmla="*/ 1619794 h 3236393"/>
              <a:gd name="csX39" fmla="*/ 613954 w 4153988"/>
              <a:gd name="csY39" fmla="*/ 1704703 h 3236393"/>
              <a:gd name="csX40" fmla="*/ 607422 w 4153988"/>
              <a:gd name="csY40" fmla="*/ 1841863 h 3236393"/>
              <a:gd name="csX41" fmla="*/ 594360 w 4153988"/>
              <a:gd name="csY41" fmla="*/ 1861457 h 3236393"/>
              <a:gd name="csX42" fmla="*/ 581297 w 4153988"/>
              <a:gd name="csY42" fmla="*/ 1887583 h 3236393"/>
              <a:gd name="csX43" fmla="*/ 607422 w 4153988"/>
              <a:gd name="csY43" fmla="*/ 2129245 h 3236393"/>
              <a:gd name="csX44" fmla="*/ 620485 w 4153988"/>
              <a:gd name="csY44" fmla="*/ 2155371 h 3236393"/>
              <a:gd name="csX45" fmla="*/ 640080 w 4153988"/>
              <a:gd name="csY45" fmla="*/ 2168434 h 3236393"/>
              <a:gd name="csX46" fmla="*/ 627017 w 4153988"/>
              <a:gd name="csY46" fmla="*/ 2194560 h 3236393"/>
              <a:gd name="csX47" fmla="*/ 646611 w 4153988"/>
              <a:gd name="csY47" fmla="*/ 2272937 h 3236393"/>
              <a:gd name="csX48" fmla="*/ 666205 w 4153988"/>
              <a:gd name="csY48" fmla="*/ 2292531 h 3236393"/>
              <a:gd name="csX49" fmla="*/ 692331 w 4153988"/>
              <a:gd name="csY49" fmla="*/ 2325188 h 3236393"/>
              <a:gd name="csX50" fmla="*/ 738051 w 4153988"/>
              <a:gd name="csY50" fmla="*/ 2377440 h 3236393"/>
              <a:gd name="csX51" fmla="*/ 777240 w 4153988"/>
              <a:gd name="csY51" fmla="*/ 2429691 h 3236393"/>
              <a:gd name="csX52" fmla="*/ 829491 w 4153988"/>
              <a:gd name="csY52" fmla="*/ 2475411 h 3236393"/>
              <a:gd name="csX53" fmla="*/ 855617 w 4153988"/>
              <a:gd name="csY53" fmla="*/ 2508068 h 3236393"/>
              <a:gd name="csX54" fmla="*/ 1071154 w 4153988"/>
              <a:gd name="csY54" fmla="*/ 2671354 h 3236393"/>
              <a:gd name="csX55" fmla="*/ 1136468 w 4153988"/>
              <a:gd name="csY55" fmla="*/ 2710543 h 3236393"/>
              <a:gd name="csX56" fmla="*/ 1169125 w 4153988"/>
              <a:gd name="csY56" fmla="*/ 2723605 h 3236393"/>
              <a:gd name="csX57" fmla="*/ 1234440 w 4153988"/>
              <a:gd name="csY57" fmla="*/ 2762794 h 3236393"/>
              <a:gd name="csX58" fmla="*/ 1306285 w 4153988"/>
              <a:gd name="csY58" fmla="*/ 2795451 h 3236393"/>
              <a:gd name="csX59" fmla="*/ 1345474 w 4153988"/>
              <a:gd name="csY59" fmla="*/ 2821577 h 3236393"/>
              <a:gd name="csX60" fmla="*/ 1365068 w 4153988"/>
              <a:gd name="csY60" fmla="*/ 2834640 h 3236393"/>
              <a:gd name="csX61" fmla="*/ 1423851 w 4153988"/>
              <a:gd name="csY61" fmla="*/ 2860765 h 3236393"/>
              <a:gd name="csX62" fmla="*/ 1652451 w 4153988"/>
              <a:gd name="csY62" fmla="*/ 2958737 h 3236393"/>
              <a:gd name="csX63" fmla="*/ 1717765 w 4153988"/>
              <a:gd name="csY63" fmla="*/ 2971800 h 3236393"/>
              <a:gd name="csX64" fmla="*/ 1848394 w 4153988"/>
              <a:gd name="csY64" fmla="*/ 3004457 h 3236393"/>
              <a:gd name="csX65" fmla="*/ 1920240 w 4153988"/>
              <a:gd name="csY65" fmla="*/ 3010988 h 3236393"/>
              <a:gd name="csX66" fmla="*/ 2031274 w 4153988"/>
              <a:gd name="csY66" fmla="*/ 3024051 h 3236393"/>
              <a:gd name="csX67" fmla="*/ 2135777 w 4153988"/>
              <a:gd name="csY67" fmla="*/ 3043645 h 3236393"/>
              <a:gd name="csX68" fmla="*/ 2194560 w 4153988"/>
              <a:gd name="csY68" fmla="*/ 3050177 h 3236393"/>
              <a:gd name="csX69" fmla="*/ 2299062 w 4153988"/>
              <a:gd name="csY69" fmla="*/ 3063240 h 3236393"/>
              <a:gd name="csX70" fmla="*/ 2553788 w 4153988"/>
              <a:gd name="csY70" fmla="*/ 3095897 h 3236393"/>
              <a:gd name="csX71" fmla="*/ 2795451 w 4153988"/>
              <a:gd name="csY71" fmla="*/ 3108960 h 3236393"/>
              <a:gd name="csX72" fmla="*/ 2841171 w 4153988"/>
              <a:gd name="csY72" fmla="*/ 3115491 h 3236393"/>
              <a:gd name="csX73" fmla="*/ 2873828 w 4153988"/>
              <a:gd name="csY73" fmla="*/ 3122023 h 3236393"/>
              <a:gd name="csX74" fmla="*/ 2932611 w 4153988"/>
              <a:gd name="csY74" fmla="*/ 3128554 h 3236393"/>
              <a:gd name="csX75" fmla="*/ 2997925 w 4153988"/>
              <a:gd name="csY75" fmla="*/ 3141617 h 3236393"/>
              <a:gd name="csX76" fmla="*/ 3089365 w 4153988"/>
              <a:gd name="csY76" fmla="*/ 3154680 h 3236393"/>
              <a:gd name="csX77" fmla="*/ 3154680 w 4153988"/>
              <a:gd name="csY77" fmla="*/ 3174274 h 3236393"/>
              <a:gd name="csX78" fmla="*/ 3174274 w 4153988"/>
              <a:gd name="csY78" fmla="*/ 3180805 h 3236393"/>
              <a:gd name="csX79" fmla="*/ 3291840 w 4153988"/>
              <a:gd name="csY79" fmla="*/ 3206931 h 3236393"/>
              <a:gd name="csX80" fmla="*/ 3311434 w 4153988"/>
              <a:gd name="csY80" fmla="*/ 3213463 h 3236393"/>
              <a:gd name="csX81" fmla="*/ 3494314 w 4153988"/>
              <a:gd name="csY81" fmla="*/ 3226525 h 3236393"/>
              <a:gd name="csX82" fmla="*/ 3762102 w 4153988"/>
              <a:gd name="csY82" fmla="*/ 3219994 h 3236393"/>
              <a:gd name="csX83" fmla="*/ 3847011 w 4153988"/>
              <a:gd name="csY83" fmla="*/ 3206931 h 3236393"/>
              <a:gd name="csX84" fmla="*/ 3918857 w 4153988"/>
              <a:gd name="csY84" fmla="*/ 3180805 h 3236393"/>
              <a:gd name="csX85" fmla="*/ 3971108 w 4153988"/>
              <a:gd name="csY85" fmla="*/ 3167743 h 3236393"/>
              <a:gd name="csX86" fmla="*/ 3990702 w 4153988"/>
              <a:gd name="csY86" fmla="*/ 3148148 h 3236393"/>
              <a:gd name="csX87" fmla="*/ 4023360 w 4153988"/>
              <a:gd name="csY87" fmla="*/ 3128554 h 3236393"/>
              <a:gd name="csX88" fmla="*/ 4049485 w 4153988"/>
              <a:gd name="csY88" fmla="*/ 3095897 h 3236393"/>
              <a:gd name="csX89" fmla="*/ 4088674 w 4153988"/>
              <a:gd name="csY89" fmla="*/ 3043645 h 3236393"/>
              <a:gd name="csX90" fmla="*/ 4121331 w 4153988"/>
              <a:gd name="csY90" fmla="*/ 2965268 h 3236393"/>
              <a:gd name="csX91" fmla="*/ 4127862 w 4153988"/>
              <a:gd name="csY91" fmla="*/ 2913017 h 3236393"/>
              <a:gd name="csX92" fmla="*/ 4140925 w 4153988"/>
              <a:gd name="csY92" fmla="*/ 2821577 h 3236393"/>
              <a:gd name="csX93" fmla="*/ 4153988 w 4153988"/>
              <a:gd name="csY93" fmla="*/ 2697480 h 3236393"/>
              <a:gd name="csX94" fmla="*/ 4147457 w 4153988"/>
              <a:gd name="csY94" fmla="*/ 2527663 h 3236393"/>
              <a:gd name="csX95" fmla="*/ 4134394 w 4153988"/>
              <a:gd name="csY95" fmla="*/ 2495005 h 3236393"/>
              <a:gd name="csX96" fmla="*/ 4101737 w 4153988"/>
              <a:gd name="csY96" fmla="*/ 2449285 h 3236393"/>
              <a:gd name="csX97" fmla="*/ 4075611 w 4153988"/>
              <a:gd name="csY97" fmla="*/ 2410097 h 3236393"/>
              <a:gd name="csX98" fmla="*/ 4029891 w 4153988"/>
              <a:gd name="csY98" fmla="*/ 2351314 h 3236393"/>
              <a:gd name="csX99" fmla="*/ 4010297 w 4153988"/>
              <a:gd name="csY99" fmla="*/ 2344783 h 3236393"/>
              <a:gd name="csX100" fmla="*/ 3925388 w 4153988"/>
              <a:gd name="csY100" fmla="*/ 2318657 h 3236393"/>
              <a:gd name="csX101" fmla="*/ 3827417 w 4153988"/>
              <a:gd name="csY101" fmla="*/ 2325188 h 3236393"/>
              <a:gd name="csX102" fmla="*/ 3755571 w 4153988"/>
              <a:gd name="csY102" fmla="*/ 2344783 h 3236393"/>
              <a:gd name="csX103" fmla="*/ 3729445 w 4153988"/>
              <a:gd name="csY103" fmla="*/ 2351314 h 3236393"/>
              <a:gd name="csX104" fmla="*/ 3677194 w 4153988"/>
              <a:gd name="csY104" fmla="*/ 2377440 h 3236393"/>
              <a:gd name="csX105" fmla="*/ 3624942 w 4153988"/>
              <a:gd name="csY105" fmla="*/ 2416628 h 3236393"/>
              <a:gd name="csX106" fmla="*/ 3572691 w 4153988"/>
              <a:gd name="csY106" fmla="*/ 2442754 h 3236393"/>
              <a:gd name="csX107" fmla="*/ 3533502 w 4153988"/>
              <a:gd name="csY107" fmla="*/ 2462348 h 3236393"/>
              <a:gd name="csX108" fmla="*/ 3513908 w 4153988"/>
              <a:gd name="csY108" fmla="*/ 2481943 h 3236393"/>
              <a:gd name="csX109" fmla="*/ 3461657 w 4153988"/>
              <a:gd name="csY109" fmla="*/ 2501537 h 3236393"/>
              <a:gd name="csX110" fmla="*/ 3435531 w 4153988"/>
              <a:gd name="csY110" fmla="*/ 2514600 h 3236393"/>
              <a:gd name="csX111" fmla="*/ 3389811 w 4153988"/>
              <a:gd name="csY111" fmla="*/ 2527663 h 3236393"/>
              <a:gd name="csX112" fmla="*/ 3344091 w 4153988"/>
              <a:gd name="csY112" fmla="*/ 2540725 h 3236393"/>
              <a:gd name="csX113" fmla="*/ 3226525 w 4153988"/>
              <a:gd name="csY113" fmla="*/ 2527663 h 3236393"/>
              <a:gd name="csX114" fmla="*/ 3174274 w 4153988"/>
              <a:gd name="csY114" fmla="*/ 2468880 h 3236393"/>
              <a:gd name="csX115" fmla="*/ 3141617 w 4153988"/>
              <a:gd name="csY115" fmla="*/ 2410097 h 3236393"/>
              <a:gd name="csX116" fmla="*/ 3122022 w 4153988"/>
              <a:gd name="csY116" fmla="*/ 2383971 h 3236393"/>
              <a:gd name="csX117" fmla="*/ 3102428 w 4153988"/>
              <a:gd name="csY117" fmla="*/ 2325188 h 3236393"/>
              <a:gd name="csX118" fmla="*/ 3082834 w 4153988"/>
              <a:gd name="csY118" fmla="*/ 2279468 h 3236393"/>
              <a:gd name="csX119" fmla="*/ 3076302 w 4153988"/>
              <a:gd name="csY119" fmla="*/ 2240280 h 3236393"/>
              <a:gd name="csX120" fmla="*/ 3069771 w 4153988"/>
              <a:gd name="csY120" fmla="*/ 2214154 h 3236393"/>
              <a:gd name="csX121" fmla="*/ 3050177 w 4153988"/>
              <a:gd name="csY121" fmla="*/ 2109651 h 3236393"/>
              <a:gd name="csX122" fmla="*/ 3056708 w 4153988"/>
              <a:gd name="csY122" fmla="*/ 1874520 h 3236393"/>
              <a:gd name="csX123" fmla="*/ 3069771 w 4153988"/>
              <a:gd name="csY123" fmla="*/ 1822268 h 3236393"/>
              <a:gd name="csX124" fmla="*/ 3115491 w 4153988"/>
              <a:gd name="csY124" fmla="*/ 1737360 h 3236393"/>
              <a:gd name="csX125" fmla="*/ 3128554 w 4153988"/>
              <a:gd name="csY125" fmla="*/ 1704703 h 3236393"/>
              <a:gd name="csX126" fmla="*/ 3148148 w 4153988"/>
              <a:gd name="csY126" fmla="*/ 1678577 h 3236393"/>
              <a:gd name="csX127" fmla="*/ 3180805 w 4153988"/>
              <a:gd name="csY127" fmla="*/ 1593668 h 3236393"/>
              <a:gd name="csX128" fmla="*/ 3206931 w 4153988"/>
              <a:gd name="csY128" fmla="*/ 1534885 h 3236393"/>
              <a:gd name="csX129" fmla="*/ 3239588 w 4153988"/>
              <a:gd name="csY129" fmla="*/ 1463040 h 3236393"/>
              <a:gd name="csX130" fmla="*/ 3272245 w 4153988"/>
              <a:gd name="csY130" fmla="*/ 1306285 h 3236393"/>
              <a:gd name="csX131" fmla="*/ 3278777 w 4153988"/>
              <a:gd name="csY131" fmla="*/ 1227908 h 3236393"/>
              <a:gd name="csX132" fmla="*/ 3285308 w 4153988"/>
              <a:gd name="csY132" fmla="*/ 1182188 h 3236393"/>
              <a:gd name="csX133" fmla="*/ 3298371 w 4153988"/>
              <a:gd name="csY133" fmla="*/ 1084217 h 3236393"/>
              <a:gd name="csX134" fmla="*/ 3291840 w 4153988"/>
              <a:gd name="csY134" fmla="*/ 1018903 h 3236393"/>
              <a:gd name="csX135" fmla="*/ 3239588 w 4153988"/>
              <a:gd name="csY135" fmla="*/ 953588 h 3236393"/>
              <a:gd name="csX136" fmla="*/ 3206931 w 4153988"/>
              <a:gd name="csY136" fmla="*/ 920931 h 3236393"/>
              <a:gd name="csX137" fmla="*/ 3108960 w 4153988"/>
              <a:gd name="csY137" fmla="*/ 855617 h 3236393"/>
              <a:gd name="csX138" fmla="*/ 3017520 w 4153988"/>
              <a:gd name="csY138" fmla="*/ 881743 h 3236393"/>
              <a:gd name="csX139" fmla="*/ 2919548 w 4153988"/>
              <a:gd name="csY139" fmla="*/ 914400 h 3236393"/>
              <a:gd name="csX140" fmla="*/ 2834640 w 4153988"/>
              <a:gd name="csY140" fmla="*/ 933994 h 3236393"/>
              <a:gd name="csX141" fmla="*/ 2749731 w 4153988"/>
              <a:gd name="csY141" fmla="*/ 960120 h 3236393"/>
              <a:gd name="csX142" fmla="*/ 2717074 w 4153988"/>
              <a:gd name="csY142" fmla="*/ 966651 h 3236393"/>
              <a:gd name="csX143" fmla="*/ 2677885 w 4153988"/>
              <a:gd name="csY143" fmla="*/ 992777 h 3236393"/>
              <a:gd name="csX144" fmla="*/ 2625634 w 4153988"/>
              <a:gd name="csY144" fmla="*/ 1018903 h 3236393"/>
              <a:gd name="csX145" fmla="*/ 2579914 w 4153988"/>
              <a:gd name="csY145" fmla="*/ 1045028 h 3236393"/>
              <a:gd name="csX146" fmla="*/ 2560320 w 4153988"/>
              <a:gd name="csY146" fmla="*/ 1051560 h 3236393"/>
              <a:gd name="csX147" fmla="*/ 2540725 w 4153988"/>
              <a:gd name="csY147" fmla="*/ 1064623 h 3236393"/>
              <a:gd name="csX148" fmla="*/ 2508068 w 4153988"/>
              <a:gd name="csY148" fmla="*/ 1077685 h 3236393"/>
              <a:gd name="csX149" fmla="*/ 2481942 w 4153988"/>
              <a:gd name="csY149" fmla="*/ 1090748 h 3236393"/>
              <a:gd name="csX150" fmla="*/ 2449285 w 4153988"/>
              <a:gd name="csY150" fmla="*/ 1097280 h 3236393"/>
              <a:gd name="csX151" fmla="*/ 2344782 w 4153988"/>
              <a:gd name="csY151" fmla="*/ 1116874 h 3236393"/>
              <a:gd name="csX152" fmla="*/ 2272937 w 4153988"/>
              <a:gd name="csY152" fmla="*/ 1136468 h 3236393"/>
              <a:gd name="csX153" fmla="*/ 2240280 w 4153988"/>
              <a:gd name="csY153" fmla="*/ 1143000 h 3236393"/>
              <a:gd name="csX154" fmla="*/ 2181497 w 4153988"/>
              <a:gd name="csY154" fmla="*/ 1156063 h 3236393"/>
              <a:gd name="csX155" fmla="*/ 2155371 w 4153988"/>
              <a:gd name="csY155" fmla="*/ 1169125 h 3236393"/>
              <a:gd name="csX156" fmla="*/ 1952897 w 4153988"/>
              <a:gd name="csY156" fmla="*/ 1156063 h 3236393"/>
              <a:gd name="csX157" fmla="*/ 1783080 w 4153988"/>
              <a:gd name="csY157" fmla="*/ 1051560 h 3236393"/>
              <a:gd name="csX158" fmla="*/ 1743891 w 4153988"/>
              <a:gd name="csY158" fmla="*/ 1005840 h 3236393"/>
              <a:gd name="csX159" fmla="*/ 1698171 w 4153988"/>
              <a:gd name="csY159" fmla="*/ 888274 h 3236393"/>
              <a:gd name="csX160" fmla="*/ 1672045 w 4153988"/>
              <a:gd name="csY160" fmla="*/ 855617 h 3236393"/>
              <a:gd name="csX161" fmla="*/ 1645920 w 4153988"/>
              <a:gd name="csY161" fmla="*/ 816428 h 3236393"/>
              <a:gd name="csX162" fmla="*/ 1593668 w 4153988"/>
              <a:gd name="csY162" fmla="*/ 751114 h 3236393"/>
              <a:gd name="csX163" fmla="*/ 1574074 w 4153988"/>
              <a:gd name="csY163" fmla="*/ 718457 h 3236393"/>
              <a:gd name="csX164" fmla="*/ 1541417 w 4153988"/>
              <a:gd name="csY164" fmla="*/ 679268 h 3236393"/>
              <a:gd name="csX165" fmla="*/ 1534885 w 4153988"/>
              <a:gd name="csY165" fmla="*/ 659674 h 3236393"/>
              <a:gd name="csX166" fmla="*/ 1495697 w 4153988"/>
              <a:gd name="csY166" fmla="*/ 600891 h 3236393"/>
              <a:gd name="csX167" fmla="*/ 1482634 w 4153988"/>
              <a:gd name="csY167" fmla="*/ 561703 h 3236393"/>
              <a:gd name="csX168" fmla="*/ 1476102 w 4153988"/>
              <a:gd name="csY168" fmla="*/ 542108 h 3236393"/>
              <a:gd name="csX169" fmla="*/ 1476102 w 4153988"/>
              <a:gd name="csY169" fmla="*/ 476794 h 3236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</a:cxnLst>
            <a:rect l="l" t="t" r="r" b="b"/>
            <a:pathLst>
              <a:path w="4153988" h="3236393">
                <a:moveTo>
                  <a:pt x="1476102" y="476794"/>
                </a:moveTo>
                <a:cubicBezTo>
                  <a:pt x="1457596" y="438694"/>
                  <a:pt x="1590421" y="613982"/>
                  <a:pt x="1365068" y="313508"/>
                </a:cubicBezTo>
                <a:cubicBezTo>
                  <a:pt x="1357451" y="303352"/>
                  <a:pt x="1342102" y="302114"/>
                  <a:pt x="1332411" y="293914"/>
                </a:cubicBezTo>
                <a:cubicBezTo>
                  <a:pt x="1313608" y="278004"/>
                  <a:pt x="1298130" y="258509"/>
                  <a:pt x="1280160" y="241663"/>
                </a:cubicBezTo>
                <a:cubicBezTo>
                  <a:pt x="1245844" y="209492"/>
                  <a:pt x="1127551" y="110957"/>
                  <a:pt x="1110342" y="104503"/>
                </a:cubicBezTo>
                <a:lnTo>
                  <a:pt x="1058091" y="84908"/>
                </a:lnTo>
                <a:cubicBezTo>
                  <a:pt x="1045124" y="80277"/>
                  <a:pt x="1031558" y="77269"/>
                  <a:pt x="1018902" y="71845"/>
                </a:cubicBezTo>
                <a:cubicBezTo>
                  <a:pt x="1001004" y="64174"/>
                  <a:pt x="984731" y="52952"/>
                  <a:pt x="966651" y="45720"/>
                </a:cubicBezTo>
                <a:cubicBezTo>
                  <a:pt x="932194" y="31937"/>
                  <a:pt x="862887" y="9383"/>
                  <a:pt x="822960" y="6531"/>
                </a:cubicBezTo>
                <a:cubicBezTo>
                  <a:pt x="753434" y="1565"/>
                  <a:pt x="683623" y="2177"/>
                  <a:pt x="613954" y="0"/>
                </a:cubicBezTo>
                <a:cubicBezTo>
                  <a:pt x="563880" y="2177"/>
                  <a:pt x="513546" y="996"/>
                  <a:pt x="463731" y="6531"/>
                </a:cubicBezTo>
                <a:cubicBezTo>
                  <a:pt x="454054" y="7606"/>
                  <a:pt x="446931" y="16796"/>
                  <a:pt x="437605" y="19594"/>
                </a:cubicBezTo>
                <a:cubicBezTo>
                  <a:pt x="424921" y="23399"/>
                  <a:pt x="411321" y="23147"/>
                  <a:pt x="398417" y="26125"/>
                </a:cubicBezTo>
                <a:cubicBezTo>
                  <a:pt x="319960" y="44230"/>
                  <a:pt x="385602" y="35219"/>
                  <a:pt x="300445" y="52251"/>
                </a:cubicBezTo>
                <a:cubicBezTo>
                  <a:pt x="285349" y="55270"/>
                  <a:pt x="269695" y="55190"/>
                  <a:pt x="254725" y="58783"/>
                </a:cubicBezTo>
                <a:cubicBezTo>
                  <a:pt x="215176" y="68275"/>
                  <a:pt x="137160" y="91440"/>
                  <a:pt x="137160" y="91440"/>
                </a:cubicBezTo>
                <a:cubicBezTo>
                  <a:pt x="130628" y="95794"/>
                  <a:pt x="124586" y="100992"/>
                  <a:pt x="117565" y="104503"/>
                </a:cubicBezTo>
                <a:cubicBezTo>
                  <a:pt x="107079" y="109746"/>
                  <a:pt x="92628" y="108742"/>
                  <a:pt x="84908" y="117565"/>
                </a:cubicBezTo>
                <a:cubicBezTo>
                  <a:pt x="61047" y="144834"/>
                  <a:pt x="26125" y="209005"/>
                  <a:pt x="26125" y="209005"/>
                </a:cubicBezTo>
                <a:cubicBezTo>
                  <a:pt x="21771" y="226422"/>
                  <a:pt x="16182" y="243577"/>
                  <a:pt x="13062" y="261257"/>
                </a:cubicBezTo>
                <a:cubicBezTo>
                  <a:pt x="9636" y="280672"/>
                  <a:pt x="8834" y="300460"/>
                  <a:pt x="6531" y="320040"/>
                </a:cubicBezTo>
                <a:cubicBezTo>
                  <a:pt x="4480" y="337472"/>
                  <a:pt x="2177" y="354874"/>
                  <a:pt x="0" y="372291"/>
                </a:cubicBezTo>
                <a:cubicBezTo>
                  <a:pt x="4354" y="463731"/>
                  <a:pt x="5614" y="555371"/>
                  <a:pt x="13062" y="646611"/>
                </a:cubicBezTo>
                <a:cubicBezTo>
                  <a:pt x="13992" y="658002"/>
                  <a:pt x="44318" y="747909"/>
                  <a:pt x="45720" y="751114"/>
                </a:cubicBezTo>
                <a:cubicBezTo>
                  <a:pt x="53257" y="768341"/>
                  <a:pt x="76191" y="806325"/>
                  <a:pt x="91440" y="822960"/>
                </a:cubicBezTo>
                <a:cubicBezTo>
                  <a:pt x="108084" y="841117"/>
                  <a:pt x="125641" y="858451"/>
                  <a:pt x="143691" y="875211"/>
                </a:cubicBezTo>
                <a:cubicBezTo>
                  <a:pt x="156152" y="886781"/>
                  <a:pt x="170475" y="896238"/>
                  <a:pt x="182880" y="907868"/>
                </a:cubicBezTo>
                <a:cubicBezTo>
                  <a:pt x="205342" y="928926"/>
                  <a:pt x="227794" y="950122"/>
                  <a:pt x="248194" y="973183"/>
                </a:cubicBezTo>
                <a:cubicBezTo>
                  <a:pt x="277932" y="1006800"/>
                  <a:pt x="304517" y="1043082"/>
                  <a:pt x="333102" y="1077685"/>
                </a:cubicBezTo>
                <a:cubicBezTo>
                  <a:pt x="345886" y="1093160"/>
                  <a:pt x="361964" y="1106193"/>
                  <a:pt x="372291" y="1123405"/>
                </a:cubicBezTo>
                <a:cubicBezTo>
                  <a:pt x="378822" y="1134291"/>
                  <a:pt x="383758" y="1146310"/>
                  <a:pt x="391885" y="1156063"/>
                </a:cubicBezTo>
                <a:cubicBezTo>
                  <a:pt x="405683" y="1172620"/>
                  <a:pt x="423807" y="1185226"/>
                  <a:pt x="437605" y="1201783"/>
                </a:cubicBezTo>
                <a:cubicBezTo>
                  <a:pt x="456562" y="1224532"/>
                  <a:pt x="472519" y="1249622"/>
                  <a:pt x="489857" y="1273628"/>
                </a:cubicBezTo>
                <a:cubicBezTo>
                  <a:pt x="527706" y="1326034"/>
                  <a:pt x="514360" y="1305759"/>
                  <a:pt x="542108" y="1352005"/>
                </a:cubicBezTo>
                <a:cubicBezTo>
                  <a:pt x="558294" y="1432930"/>
                  <a:pt x="534743" y="1330077"/>
                  <a:pt x="568234" y="1423851"/>
                </a:cubicBezTo>
                <a:cubicBezTo>
                  <a:pt x="574272" y="1440758"/>
                  <a:pt x="576671" y="1458756"/>
                  <a:pt x="581297" y="1476103"/>
                </a:cubicBezTo>
                <a:cubicBezTo>
                  <a:pt x="585381" y="1491418"/>
                  <a:pt x="590006" y="1506583"/>
                  <a:pt x="594360" y="1521823"/>
                </a:cubicBezTo>
                <a:cubicBezTo>
                  <a:pt x="596537" y="1539240"/>
                  <a:pt x="598571" y="1556675"/>
                  <a:pt x="600891" y="1574074"/>
                </a:cubicBezTo>
                <a:cubicBezTo>
                  <a:pt x="602925" y="1589334"/>
                  <a:pt x="605890" y="1604476"/>
                  <a:pt x="607422" y="1619794"/>
                </a:cubicBezTo>
                <a:cubicBezTo>
                  <a:pt x="610247" y="1648040"/>
                  <a:pt x="611777" y="1676400"/>
                  <a:pt x="613954" y="1704703"/>
                </a:cubicBezTo>
                <a:cubicBezTo>
                  <a:pt x="611777" y="1750423"/>
                  <a:pt x="613099" y="1796445"/>
                  <a:pt x="607422" y="1841863"/>
                </a:cubicBezTo>
                <a:cubicBezTo>
                  <a:pt x="606448" y="1849652"/>
                  <a:pt x="598254" y="1854642"/>
                  <a:pt x="594360" y="1861457"/>
                </a:cubicBezTo>
                <a:cubicBezTo>
                  <a:pt x="589529" y="1869911"/>
                  <a:pt x="585651" y="1878874"/>
                  <a:pt x="581297" y="1887583"/>
                </a:cubicBezTo>
                <a:cubicBezTo>
                  <a:pt x="587563" y="1981572"/>
                  <a:pt x="578279" y="2049100"/>
                  <a:pt x="607422" y="2129245"/>
                </a:cubicBezTo>
                <a:cubicBezTo>
                  <a:pt x="610749" y="2138395"/>
                  <a:pt x="614252" y="2147891"/>
                  <a:pt x="620485" y="2155371"/>
                </a:cubicBezTo>
                <a:cubicBezTo>
                  <a:pt x="625511" y="2161402"/>
                  <a:pt x="633548" y="2164080"/>
                  <a:pt x="640080" y="2168434"/>
                </a:cubicBezTo>
                <a:cubicBezTo>
                  <a:pt x="674913" y="2272938"/>
                  <a:pt x="627017" y="2107471"/>
                  <a:pt x="627017" y="2194560"/>
                </a:cubicBezTo>
                <a:cubicBezTo>
                  <a:pt x="627017" y="2221490"/>
                  <a:pt x="636610" y="2247933"/>
                  <a:pt x="646611" y="2272937"/>
                </a:cubicBezTo>
                <a:cubicBezTo>
                  <a:pt x="650041" y="2281513"/>
                  <a:pt x="660123" y="2285580"/>
                  <a:pt x="666205" y="2292531"/>
                </a:cubicBezTo>
                <a:cubicBezTo>
                  <a:pt x="675385" y="2303022"/>
                  <a:pt x="683967" y="2314036"/>
                  <a:pt x="692331" y="2325188"/>
                </a:cubicBezTo>
                <a:cubicBezTo>
                  <a:pt x="761075" y="2416847"/>
                  <a:pt x="607393" y="2223028"/>
                  <a:pt x="738051" y="2377440"/>
                </a:cubicBezTo>
                <a:cubicBezTo>
                  <a:pt x="752114" y="2394060"/>
                  <a:pt x="759823" y="2416628"/>
                  <a:pt x="777240" y="2429691"/>
                </a:cubicBezTo>
                <a:cubicBezTo>
                  <a:pt x="803253" y="2449201"/>
                  <a:pt x="806942" y="2450044"/>
                  <a:pt x="829491" y="2475411"/>
                </a:cubicBezTo>
                <a:cubicBezTo>
                  <a:pt x="838753" y="2485830"/>
                  <a:pt x="845005" y="2499028"/>
                  <a:pt x="855617" y="2508068"/>
                </a:cubicBezTo>
                <a:cubicBezTo>
                  <a:pt x="898474" y="2544576"/>
                  <a:pt x="1007368" y="2629893"/>
                  <a:pt x="1071154" y="2671354"/>
                </a:cubicBezTo>
                <a:cubicBezTo>
                  <a:pt x="1092442" y="2685191"/>
                  <a:pt x="1112894" y="2701114"/>
                  <a:pt x="1136468" y="2710543"/>
                </a:cubicBezTo>
                <a:cubicBezTo>
                  <a:pt x="1147354" y="2714897"/>
                  <a:pt x="1158780" y="2718088"/>
                  <a:pt x="1169125" y="2723605"/>
                </a:cubicBezTo>
                <a:cubicBezTo>
                  <a:pt x="1191528" y="2735553"/>
                  <a:pt x="1210866" y="2753364"/>
                  <a:pt x="1234440" y="2762794"/>
                </a:cubicBezTo>
                <a:cubicBezTo>
                  <a:pt x="1262530" y="2774030"/>
                  <a:pt x="1279191" y="2779646"/>
                  <a:pt x="1306285" y="2795451"/>
                </a:cubicBezTo>
                <a:cubicBezTo>
                  <a:pt x="1319846" y="2803362"/>
                  <a:pt x="1332411" y="2812868"/>
                  <a:pt x="1345474" y="2821577"/>
                </a:cubicBezTo>
                <a:cubicBezTo>
                  <a:pt x="1352005" y="2825931"/>
                  <a:pt x="1357621" y="2832158"/>
                  <a:pt x="1365068" y="2834640"/>
                </a:cubicBezTo>
                <a:cubicBezTo>
                  <a:pt x="1390501" y="2843117"/>
                  <a:pt x="1395510" y="2843761"/>
                  <a:pt x="1423851" y="2860765"/>
                </a:cubicBezTo>
                <a:cubicBezTo>
                  <a:pt x="1524427" y="2921111"/>
                  <a:pt x="1329776" y="2894201"/>
                  <a:pt x="1652451" y="2958737"/>
                </a:cubicBezTo>
                <a:cubicBezTo>
                  <a:pt x="1674222" y="2963091"/>
                  <a:pt x="1696143" y="2966755"/>
                  <a:pt x="1717765" y="2971800"/>
                </a:cubicBezTo>
                <a:cubicBezTo>
                  <a:pt x="1761474" y="2981999"/>
                  <a:pt x="1804329" y="2995928"/>
                  <a:pt x="1848394" y="3004457"/>
                </a:cubicBezTo>
                <a:cubicBezTo>
                  <a:pt x="1872003" y="3009026"/>
                  <a:pt x="1896329" y="3008426"/>
                  <a:pt x="1920240" y="3010988"/>
                </a:cubicBezTo>
                <a:cubicBezTo>
                  <a:pt x="1957295" y="3014958"/>
                  <a:pt x="1994428" y="3018468"/>
                  <a:pt x="2031274" y="3024051"/>
                </a:cubicBezTo>
                <a:cubicBezTo>
                  <a:pt x="2066315" y="3029360"/>
                  <a:pt x="2100781" y="3038046"/>
                  <a:pt x="2135777" y="3043645"/>
                </a:cubicBezTo>
                <a:cubicBezTo>
                  <a:pt x="2155244" y="3046760"/>
                  <a:pt x="2174986" y="3047828"/>
                  <a:pt x="2194560" y="3050177"/>
                </a:cubicBezTo>
                <a:lnTo>
                  <a:pt x="2299062" y="3063240"/>
                </a:lnTo>
                <a:cubicBezTo>
                  <a:pt x="2435508" y="3082279"/>
                  <a:pt x="2445237" y="3089251"/>
                  <a:pt x="2553788" y="3095897"/>
                </a:cubicBezTo>
                <a:lnTo>
                  <a:pt x="2795451" y="3108960"/>
                </a:lnTo>
                <a:cubicBezTo>
                  <a:pt x="2810691" y="3111137"/>
                  <a:pt x="2825986" y="3112960"/>
                  <a:pt x="2841171" y="3115491"/>
                </a:cubicBezTo>
                <a:cubicBezTo>
                  <a:pt x="2852121" y="3117316"/>
                  <a:pt x="2862838" y="3120453"/>
                  <a:pt x="2873828" y="3122023"/>
                </a:cubicBezTo>
                <a:cubicBezTo>
                  <a:pt x="2893345" y="3124811"/>
                  <a:pt x="2913137" y="3125479"/>
                  <a:pt x="2932611" y="3128554"/>
                </a:cubicBezTo>
                <a:cubicBezTo>
                  <a:pt x="2954542" y="3132017"/>
                  <a:pt x="2976103" y="3137525"/>
                  <a:pt x="2997925" y="3141617"/>
                </a:cubicBezTo>
                <a:cubicBezTo>
                  <a:pt x="3035580" y="3148677"/>
                  <a:pt x="3048954" y="3149628"/>
                  <a:pt x="3089365" y="3154680"/>
                </a:cubicBezTo>
                <a:lnTo>
                  <a:pt x="3154680" y="3174274"/>
                </a:lnTo>
                <a:cubicBezTo>
                  <a:pt x="3161260" y="3176299"/>
                  <a:pt x="3167577" y="3179210"/>
                  <a:pt x="3174274" y="3180805"/>
                </a:cubicBezTo>
                <a:cubicBezTo>
                  <a:pt x="3213327" y="3190103"/>
                  <a:pt x="3253756" y="3194235"/>
                  <a:pt x="3291840" y="3206931"/>
                </a:cubicBezTo>
                <a:cubicBezTo>
                  <a:pt x="3298371" y="3209108"/>
                  <a:pt x="3304660" y="3212231"/>
                  <a:pt x="3311434" y="3213463"/>
                </a:cubicBezTo>
                <a:cubicBezTo>
                  <a:pt x="3365771" y="3223343"/>
                  <a:pt x="3448425" y="3224231"/>
                  <a:pt x="3494314" y="3226525"/>
                </a:cubicBezTo>
                <a:cubicBezTo>
                  <a:pt x="3607756" y="3242732"/>
                  <a:pt x="3552039" y="3237872"/>
                  <a:pt x="3762102" y="3219994"/>
                </a:cubicBezTo>
                <a:cubicBezTo>
                  <a:pt x="3790635" y="3217566"/>
                  <a:pt x="3818931" y="3212547"/>
                  <a:pt x="3847011" y="3206931"/>
                </a:cubicBezTo>
                <a:cubicBezTo>
                  <a:pt x="3948699" y="3186593"/>
                  <a:pt x="3849924" y="3203782"/>
                  <a:pt x="3918857" y="3180805"/>
                </a:cubicBezTo>
                <a:cubicBezTo>
                  <a:pt x="3935889" y="3175128"/>
                  <a:pt x="3953691" y="3172097"/>
                  <a:pt x="3971108" y="3167743"/>
                </a:cubicBezTo>
                <a:cubicBezTo>
                  <a:pt x="3977639" y="3161211"/>
                  <a:pt x="3983312" y="3153690"/>
                  <a:pt x="3990702" y="3148148"/>
                </a:cubicBezTo>
                <a:cubicBezTo>
                  <a:pt x="4000858" y="3140531"/>
                  <a:pt x="4013872" y="3136988"/>
                  <a:pt x="4023360" y="3128554"/>
                </a:cubicBezTo>
                <a:cubicBezTo>
                  <a:pt x="4033779" y="3119293"/>
                  <a:pt x="4040305" y="3106388"/>
                  <a:pt x="4049485" y="3095897"/>
                </a:cubicBezTo>
                <a:cubicBezTo>
                  <a:pt x="4073948" y="3067939"/>
                  <a:pt x="4069975" y="3083382"/>
                  <a:pt x="4088674" y="3043645"/>
                </a:cubicBezTo>
                <a:cubicBezTo>
                  <a:pt x="4100725" y="3018036"/>
                  <a:pt x="4121331" y="2965268"/>
                  <a:pt x="4121331" y="2965268"/>
                </a:cubicBezTo>
                <a:cubicBezTo>
                  <a:pt x="4123508" y="2947851"/>
                  <a:pt x="4125380" y="2930393"/>
                  <a:pt x="4127862" y="2913017"/>
                </a:cubicBezTo>
                <a:cubicBezTo>
                  <a:pt x="4137350" y="2846604"/>
                  <a:pt x="4132659" y="2900104"/>
                  <a:pt x="4140925" y="2821577"/>
                </a:cubicBezTo>
                <a:cubicBezTo>
                  <a:pt x="4157166" y="2667287"/>
                  <a:pt x="4138548" y="2821011"/>
                  <a:pt x="4153988" y="2697480"/>
                </a:cubicBezTo>
                <a:cubicBezTo>
                  <a:pt x="4151811" y="2640874"/>
                  <a:pt x="4152913" y="2584047"/>
                  <a:pt x="4147457" y="2527663"/>
                </a:cubicBezTo>
                <a:cubicBezTo>
                  <a:pt x="4146328" y="2515993"/>
                  <a:pt x="4139637" y="2505492"/>
                  <a:pt x="4134394" y="2495005"/>
                </a:cubicBezTo>
                <a:cubicBezTo>
                  <a:pt x="4129088" y="2484393"/>
                  <a:pt x="4106910" y="2456675"/>
                  <a:pt x="4101737" y="2449285"/>
                </a:cubicBezTo>
                <a:cubicBezTo>
                  <a:pt x="4092734" y="2436423"/>
                  <a:pt x="4082632" y="2424139"/>
                  <a:pt x="4075611" y="2410097"/>
                </a:cubicBezTo>
                <a:cubicBezTo>
                  <a:pt x="4060665" y="2380205"/>
                  <a:pt x="4061524" y="2375039"/>
                  <a:pt x="4029891" y="2351314"/>
                </a:cubicBezTo>
                <a:cubicBezTo>
                  <a:pt x="4024383" y="2347183"/>
                  <a:pt x="4016767" y="2347136"/>
                  <a:pt x="4010297" y="2344783"/>
                </a:cubicBezTo>
                <a:cubicBezTo>
                  <a:pt x="3943298" y="2320420"/>
                  <a:pt x="3978883" y="2329355"/>
                  <a:pt x="3925388" y="2318657"/>
                </a:cubicBezTo>
                <a:cubicBezTo>
                  <a:pt x="3892731" y="2320834"/>
                  <a:pt x="3859872" y="2320955"/>
                  <a:pt x="3827417" y="2325188"/>
                </a:cubicBezTo>
                <a:cubicBezTo>
                  <a:pt x="3784554" y="2330779"/>
                  <a:pt x="3786035" y="2336079"/>
                  <a:pt x="3755571" y="2344783"/>
                </a:cubicBezTo>
                <a:cubicBezTo>
                  <a:pt x="3746940" y="2347249"/>
                  <a:pt x="3738154" y="2349137"/>
                  <a:pt x="3729445" y="2351314"/>
                </a:cubicBezTo>
                <a:cubicBezTo>
                  <a:pt x="3671424" y="2394831"/>
                  <a:pt x="3734262" y="2352982"/>
                  <a:pt x="3677194" y="2377440"/>
                </a:cubicBezTo>
                <a:cubicBezTo>
                  <a:pt x="3664180" y="2383018"/>
                  <a:pt x="3631446" y="2412626"/>
                  <a:pt x="3624942" y="2416628"/>
                </a:cubicBezTo>
                <a:cubicBezTo>
                  <a:pt x="3608358" y="2426834"/>
                  <a:pt x="3590108" y="2434045"/>
                  <a:pt x="3572691" y="2442754"/>
                </a:cubicBezTo>
                <a:lnTo>
                  <a:pt x="3533502" y="2462348"/>
                </a:lnTo>
                <a:cubicBezTo>
                  <a:pt x="3526971" y="2468880"/>
                  <a:pt x="3521741" y="2477047"/>
                  <a:pt x="3513908" y="2481943"/>
                </a:cubicBezTo>
                <a:cubicBezTo>
                  <a:pt x="3494238" y="2494237"/>
                  <a:pt x="3480993" y="2493250"/>
                  <a:pt x="3461657" y="2501537"/>
                </a:cubicBezTo>
                <a:cubicBezTo>
                  <a:pt x="3452708" y="2505373"/>
                  <a:pt x="3444681" y="2511273"/>
                  <a:pt x="3435531" y="2514600"/>
                </a:cubicBezTo>
                <a:cubicBezTo>
                  <a:pt x="3420635" y="2520017"/>
                  <a:pt x="3404992" y="2523109"/>
                  <a:pt x="3389811" y="2527663"/>
                </a:cubicBezTo>
                <a:cubicBezTo>
                  <a:pt x="3342975" y="2541714"/>
                  <a:pt x="3401313" y="2526421"/>
                  <a:pt x="3344091" y="2540725"/>
                </a:cubicBezTo>
                <a:cubicBezTo>
                  <a:pt x="3304902" y="2536371"/>
                  <a:pt x="3264565" y="2538038"/>
                  <a:pt x="3226525" y="2527663"/>
                </a:cubicBezTo>
                <a:cubicBezTo>
                  <a:pt x="3217801" y="2525284"/>
                  <a:pt x="3177239" y="2473116"/>
                  <a:pt x="3174274" y="2468880"/>
                </a:cubicBezTo>
                <a:cubicBezTo>
                  <a:pt x="3126827" y="2401099"/>
                  <a:pt x="3177878" y="2468113"/>
                  <a:pt x="3141617" y="2410097"/>
                </a:cubicBezTo>
                <a:cubicBezTo>
                  <a:pt x="3135847" y="2400866"/>
                  <a:pt x="3127309" y="2393487"/>
                  <a:pt x="3122022" y="2383971"/>
                </a:cubicBezTo>
                <a:cubicBezTo>
                  <a:pt x="3108779" y="2360134"/>
                  <a:pt x="3109390" y="2349553"/>
                  <a:pt x="3102428" y="2325188"/>
                </a:cubicBezTo>
                <a:cubicBezTo>
                  <a:pt x="3096020" y="2302761"/>
                  <a:pt x="3094447" y="2302694"/>
                  <a:pt x="3082834" y="2279468"/>
                </a:cubicBezTo>
                <a:cubicBezTo>
                  <a:pt x="3080657" y="2266405"/>
                  <a:pt x="3078899" y="2253266"/>
                  <a:pt x="3076302" y="2240280"/>
                </a:cubicBezTo>
                <a:cubicBezTo>
                  <a:pt x="3074542" y="2231478"/>
                  <a:pt x="3071136" y="2223026"/>
                  <a:pt x="3069771" y="2214154"/>
                </a:cubicBezTo>
                <a:cubicBezTo>
                  <a:pt x="3054590" y="2115467"/>
                  <a:pt x="3074204" y="2193743"/>
                  <a:pt x="3050177" y="2109651"/>
                </a:cubicBezTo>
                <a:cubicBezTo>
                  <a:pt x="3037273" y="2006429"/>
                  <a:pt x="3038184" y="2041231"/>
                  <a:pt x="3056708" y="1874520"/>
                </a:cubicBezTo>
                <a:cubicBezTo>
                  <a:pt x="3058691" y="1856676"/>
                  <a:pt x="3063733" y="1839175"/>
                  <a:pt x="3069771" y="1822268"/>
                </a:cubicBezTo>
                <a:cubicBezTo>
                  <a:pt x="3078448" y="1797971"/>
                  <a:pt x="3104674" y="1758994"/>
                  <a:pt x="3115491" y="1737360"/>
                </a:cubicBezTo>
                <a:cubicBezTo>
                  <a:pt x="3120734" y="1726874"/>
                  <a:pt x="3122860" y="1714952"/>
                  <a:pt x="3128554" y="1704703"/>
                </a:cubicBezTo>
                <a:cubicBezTo>
                  <a:pt x="3133841" y="1695187"/>
                  <a:pt x="3143513" y="1688427"/>
                  <a:pt x="3148148" y="1678577"/>
                </a:cubicBezTo>
                <a:cubicBezTo>
                  <a:pt x="3161060" y="1651139"/>
                  <a:pt x="3169323" y="1621734"/>
                  <a:pt x="3180805" y="1593668"/>
                </a:cubicBezTo>
                <a:cubicBezTo>
                  <a:pt x="3188924" y="1573822"/>
                  <a:pt x="3198132" y="1554439"/>
                  <a:pt x="3206931" y="1534885"/>
                </a:cubicBezTo>
                <a:cubicBezTo>
                  <a:pt x="3217726" y="1510896"/>
                  <a:pt x="3233208" y="1488561"/>
                  <a:pt x="3239588" y="1463040"/>
                </a:cubicBezTo>
                <a:cubicBezTo>
                  <a:pt x="3256715" y="1394532"/>
                  <a:pt x="3263499" y="1376247"/>
                  <a:pt x="3272245" y="1306285"/>
                </a:cubicBezTo>
                <a:cubicBezTo>
                  <a:pt x="3275497" y="1280271"/>
                  <a:pt x="3276033" y="1253980"/>
                  <a:pt x="3278777" y="1227908"/>
                </a:cubicBezTo>
                <a:cubicBezTo>
                  <a:pt x="3280389" y="1212598"/>
                  <a:pt x="3283273" y="1197448"/>
                  <a:pt x="3285308" y="1182188"/>
                </a:cubicBezTo>
                <a:cubicBezTo>
                  <a:pt x="3302190" y="1055575"/>
                  <a:pt x="3281955" y="1199136"/>
                  <a:pt x="3298371" y="1084217"/>
                </a:cubicBezTo>
                <a:cubicBezTo>
                  <a:pt x="3296194" y="1062446"/>
                  <a:pt x="3300819" y="1038856"/>
                  <a:pt x="3291840" y="1018903"/>
                </a:cubicBezTo>
                <a:cubicBezTo>
                  <a:pt x="3280398" y="993477"/>
                  <a:pt x="3257848" y="974658"/>
                  <a:pt x="3239588" y="953588"/>
                </a:cubicBezTo>
                <a:cubicBezTo>
                  <a:pt x="3229506" y="941954"/>
                  <a:pt x="3218952" y="930548"/>
                  <a:pt x="3206931" y="920931"/>
                </a:cubicBezTo>
                <a:cubicBezTo>
                  <a:pt x="3169072" y="890644"/>
                  <a:pt x="3146322" y="878034"/>
                  <a:pt x="3108960" y="855617"/>
                </a:cubicBezTo>
                <a:cubicBezTo>
                  <a:pt x="3078480" y="864326"/>
                  <a:pt x="3047795" y="872347"/>
                  <a:pt x="3017520" y="881743"/>
                </a:cubicBezTo>
                <a:cubicBezTo>
                  <a:pt x="2984643" y="891946"/>
                  <a:pt x="2952647" y="904943"/>
                  <a:pt x="2919548" y="914400"/>
                </a:cubicBezTo>
                <a:cubicBezTo>
                  <a:pt x="2891619" y="922380"/>
                  <a:pt x="2862819" y="926949"/>
                  <a:pt x="2834640" y="933994"/>
                </a:cubicBezTo>
                <a:cubicBezTo>
                  <a:pt x="2701862" y="967188"/>
                  <a:pt x="2868086" y="927842"/>
                  <a:pt x="2749731" y="960120"/>
                </a:cubicBezTo>
                <a:cubicBezTo>
                  <a:pt x="2739021" y="963041"/>
                  <a:pt x="2727960" y="964474"/>
                  <a:pt x="2717074" y="966651"/>
                </a:cubicBezTo>
                <a:cubicBezTo>
                  <a:pt x="2704011" y="975360"/>
                  <a:pt x="2691927" y="985756"/>
                  <a:pt x="2677885" y="992777"/>
                </a:cubicBezTo>
                <a:cubicBezTo>
                  <a:pt x="2660468" y="1001486"/>
                  <a:pt x="2641837" y="1008102"/>
                  <a:pt x="2625634" y="1018903"/>
                </a:cubicBezTo>
                <a:cubicBezTo>
                  <a:pt x="2605955" y="1032021"/>
                  <a:pt x="2603117" y="1035084"/>
                  <a:pt x="2579914" y="1045028"/>
                </a:cubicBezTo>
                <a:cubicBezTo>
                  <a:pt x="2573586" y="1047740"/>
                  <a:pt x="2566478" y="1048481"/>
                  <a:pt x="2560320" y="1051560"/>
                </a:cubicBezTo>
                <a:cubicBezTo>
                  <a:pt x="2553299" y="1055071"/>
                  <a:pt x="2547746" y="1061112"/>
                  <a:pt x="2540725" y="1064623"/>
                </a:cubicBezTo>
                <a:cubicBezTo>
                  <a:pt x="2530239" y="1069866"/>
                  <a:pt x="2518782" y="1072924"/>
                  <a:pt x="2508068" y="1077685"/>
                </a:cubicBezTo>
                <a:cubicBezTo>
                  <a:pt x="2499171" y="1081639"/>
                  <a:pt x="2491179" y="1087669"/>
                  <a:pt x="2481942" y="1090748"/>
                </a:cubicBezTo>
                <a:cubicBezTo>
                  <a:pt x="2471410" y="1094259"/>
                  <a:pt x="2459995" y="1094359"/>
                  <a:pt x="2449285" y="1097280"/>
                </a:cubicBezTo>
                <a:cubicBezTo>
                  <a:pt x="2368310" y="1119365"/>
                  <a:pt x="2457215" y="1105632"/>
                  <a:pt x="2344782" y="1116874"/>
                </a:cubicBezTo>
                <a:cubicBezTo>
                  <a:pt x="2316630" y="1126257"/>
                  <a:pt x="2309768" y="1129101"/>
                  <a:pt x="2272937" y="1136468"/>
                </a:cubicBezTo>
                <a:cubicBezTo>
                  <a:pt x="2262051" y="1138645"/>
                  <a:pt x="2251117" y="1140592"/>
                  <a:pt x="2240280" y="1143000"/>
                </a:cubicBezTo>
                <a:cubicBezTo>
                  <a:pt x="2157265" y="1161448"/>
                  <a:pt x="2279991" y="1136362"/>
                  <a:pt x="2181497" y="1156063"/>
                </a:cubicBezTo>
                <a:cubicBezTo>
                  <a:pt x="2172788" y="1160417"/>
                  <a:pt x="2164764" y="1166563"/>
                  <a:pt x="2155371" y="1169125"/>
                </a:cubicBezTo>
                <a:cubicBezTo>
                  <a:pt x="2089469" y="1187098"/>
                  <a:pt x="2015652" y="1163907"/>
                  <a:pt x="1952897" y="1156063"/>
                </a:cubicBezTo>
                <a:cubicBezTo>
                  <a:pt x="1908013" y="1131127"/>
                  <a:pt x="1809810" y="1078290"/>
                  <a:pt x="1783080" y="1051560"/>
                </a:cubicBezTo>
                <a:cubicBezTo>
                  <a:pt x="1755788" y="1024268"/>
                  <a:pt x="1769027" y="1039355"/>
                  <a:pt x="1743891" y="1005840"/>
                </a:cubicBezTo>
                <a:cubicBezTo>
                  <a:pt x="1731200" y="967766"/>
                  <a:pt x="1720506" y="923373"/>
                  <a:pt x="1698171" y="888274"/>
                </a:cubicBezTo>
                <a:cubicBezTo>
                  <a:pt x="1690687" y="876513"/>
                  <a:pt x="1680244" y="866891"/>
                  <a:pt x="1672045" y="855617"/>
                </a:cubicBezTo>
                <a:cubicBezTo>
                  <a:pt x="1662811" y="842920"/>
                  <a:pt x="1655340" y="828988"/>
                  <a:pt x="1645920" y="816428"/>
                </a:cubicBezTo>
                <a:cubicBezTo>
                  <a:pt x="1629191" y="794123"/>
                  <a:pt x="1608013" y="775022"/>
                  <a:pt x="1593668" y="751114"/>
                </a:cubicBezTo>
                <a:cubicBezTo>
                  <a:pt x="1587137" y="740228"/>
                  <a:pt x="1581691" y="728613"/>
                  <a:pt x="1574074" y="718457"/>
                </a:cubicBezTo>
                <a:cubicBezTo>
                  <a:pt x="1552403" y="689562"/>
                  <a:pt x="1556651" y="709735"/>
                  <a:pt x="1541417" y="679268"/>
                </a:cubicBezTo>
                <a:cubicBezTo>
                  <a:pt x="1538338" y="673110"/>
                  <a:pt x="1538354" y="665621"/>
                  <a:pt x="1534885" y="659674"/>
                </a:cubicBezTo>
                <a:cubicBezTo>
                  <a:pt x="1523019" y="639333"/>
                  <a:pt x="1503144" y="623232"/>
                  <a:pt x="1495697" y="600891"/>
                </a:cubicBezTo>
                <a:lnTo>
                  <a:pt x="1482634" y="561703"/>
                </a:lnTo>
                <a:cubicBezTo>
                  <a:pt x="1480457" y="555171"/>
                  <a:pt x="1478659" y="548501"/>
                  <a:pt x="1476102" y="542108"/>
                </a:cubicBezTo>
                <a:cubicBezTo>
                  <a:pt x="1460483" y="503059"/>
                  <a:pt x="1494608" y="514894"/>
                  <a:pt x="1476102" y="476794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903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EAB6-DB48-E2D4-FD81-439FAC31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9131FCC7-4738-E2DF-9B50-1326A8B9C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29" t="16264" r="31509" b="6977"/>
          <a:stretch>
            <a:fillRect/>
          </a:stretch>
        </p:blipFill>
        <p:spPr>
          <a:xfrm>
            <a:off x="282246" y="992849"/>
            <a:ext cx="4744401" cy="3434030"/>
          </a:xfrm>
          <a:prstGeom prst="round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22D169-08B2-10BC-A3A3-79304C5CA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156" y="970547"/>
            <a:ext cx="3247089" cy="3635825"/>
          </a:xfrm>
          <a:prstGeom prst="roundRect">
            <a:avLst>
              <a:gd name="adj" fmla="val 26926"/>
            </a:avLst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03471F-6AED-DEF6-C125-363EC74320D6}"/>
              </a:ext>
            </a:extLst>
          </p:cNvPr>
          <p:cNvCxnSpPr>
            <a:cxnSpLocks/>
          </p:cNvCxnSpPr>
          <p:nvPr/>
        </p:nvCxnSpPr>
        <p:spPr>
          <a:xfrm flipV="1">
            <a:off x="4800600" y="1225550"/>
            <a:ext cx="1187450" cy="1104900"/>
          </a:xfrm>
          <a:prstGeom prst="line">
            <a:avLst/>
          </a:prstGeom>
          <a:ln w="38100">
            <a:solidFill>
              <a:srgbClr val="407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C4D509-F31B-D23A-E989-21E64693878A}"/>
              </a:ext>
            </a:extLst>
          </p:cNvPr>
          <p:cNvCxnSpPr>
            <a:cxnSpLocks/>
          </p:cNvCxnSpPr>
          <p:nvPr/>
        </p:nvCxnSpPr>
        <p:spPr>
          <a:xfrm>
            <a:off x="4800600" y="2463800"/>
            <a:ext cx="1085850" cy="1709153"/>
          </a:xfrm>
          <a:prstGeom prst="line">
            <a:avLst/>
          </a:prstGeom>
          <a:ln w="38100">
            <a:solidFill>
              <a:srgbClr val="407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B3B479EC-846F-AE32-2684-026677471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450" y="4458908"/>
            <a:ext cx="297269" cy="403981"/>
          </a:xfrm>
          <a:prstGeom prst="rect">
            <a:avLst/>
          </a:prstGeom>
        </p:spPr>
      </p:pic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3F7C3F5-8B7E-2667-7633-0DF8024B2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92719" y="4376358"/>
            <a:ext cx="1328331" cy="6959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1800" dirty="0"/>
              <a:t>Sensor Stake Location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68CE3BC-3AA4-A364-67DF-EDB72E0AB054}"/>
              </a:ext>
            </a:extLst>
          </p:cNvPr>
          <p:cNvSpPr/>
          <p:nvPr/>
        </p:nvSpPr>
        <p:spPr>
          <a:xfrm>
            <a:off x="7556456" y="2667000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1.5 m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399FF7F-6E0C-BFFD-CAA0-871E41CB188B}"/>
              </a:ext>
            </a:extLst>
          </p:cNvPr>
          <p:cNvSpPr/>
          <p:nvPr/>
        </p:nvSpPr>
        <p:spPr>
          <a:xfrm>
            <a:off x="7556456" y="3353404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2.5 m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00DAE3-9E2B-67DD-E6F0-A81776F60181}"/>
              </a:ext>
            </a:extLst>
          </p:cNvPr>
          <p:cNvSpPr/>
          <p:nvPr/>
        </p:nvSpPr>
        <p:spPr>
          <a:xfrm>
            <a:off x="7556456" y="4039808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3.5 m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D82B05C5-8F59-2E19-F922-3AD7F6F54F04}"/>
              </a:ext>
            </a:extLst>
          </p:cNvPr>
          <p:cNvSpPr txBox="1">
            <a:spLocks/>
          </p:cNvSpPr>
          <p:nvPr/>
        </p:nvSpPr>
        <p:spPr>
          <a:xfrm>
            <a:off x="5983532" y="683619"/>
            <a:ext cx="2772441" cy="695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1800" dirty="0"/>
              <a:t>3x PHC Sensors per Stake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90A126-8BA4-B2AB-E60E-2C8AC9F0EA0D}"/>
              </a:ext>
            </a:extLst>
          </p:cNvPr>
          <p:cNvSpPr/>
          <p:nvPr/>
        </p:nvSpPr>
        <p:spPr>
          <a:xfrm>
            <a:off x="313509" y="1169126"/>
            <a:ext cx="4153988" cy="3236393"/>
          </a:xfrm>
          <a:custGeom>
            <a:avLst/>
            <a:gdLst>
              <a:gd name="csX0" fmla="*/ 1476102 w 4153988"/>
              <a:gd name="csY0" fmla="*/ 476794 h 3236393"/>
              <a:gd name="csX1" fmla="*/ 1365068 w 4153988"/>
              <a:gd name="csY1" fmla="*/ 313508 h 3236393"/>
              <a:gd name="csX2" fmla="*/ 1332411 w 4153988"/>
              <a:gd name="csY2" fmla="*/ 293914 h 3236393"/>
              <a:gd name="csX3" fmla="*/ 1280160 w 4153988"/>
              <a:gd name="csY3" fmla="*/ 241663 h 3236393"/>
              <a:gd name="csX4" fmla="*/ 1110342 w 4153988"/>
              <a:gd name="csY4" fmla="*/ 104503 h 3236393"/>
              <a:gd name="csX5" fmla="*/ 1058091 w 4153988"/>
              <a:gd name="csY5" fmla="*/ 84908 h 3236393"/>
              <a:gd name="csX6" fmla="*/ 1018902 w 4153988"/>
              <a:gd name="csY6" fmla="*/ 71845 h 3236393"/>
              <a:gd name="csX7" fmla="*/ 966651 w 4153988"/>
              <a:gd name="csY7" fmla="*/ 45720 h 3236393"/>
              <a:gd name="csX8" fmla="*/ 822960 w 4153988"/>
              <a:gd name="csY8" fmla="*/ 6531 h 3236393"/>
              <a:gd name="csX9" fmla="*/ 613954 w 4153988"/>
              <a:gd name="csY9" fmla="*/ 0 h 3236393"/>
              <a:gd name="csX10" fmla="*/ 463731 w 4153988"/>
              <a:gd name="csY10" fmla="*/ 6531 h 3236393"/>
              <a:gd name="csX11" fmla="*/ 437605 w 4153988"/>
              <a:gd name="csY11" fmla="*/ 19594 h 3236393"/>
              <a:gd name="csX12" fmla="*/ 398417 w 4153988"/>
              <a:gd name="csY12" fmla="*/ 26125 h 3236393"/>
              <a:gd name="csX13" fmla="*/ 300445 w 4153988"/>
              <a:gd name="csY13" fmla="*/ 52251 h 3236393"/>
              <a:gd name="csX14" fmla="*/ 254725 w 4153988"/>
              <a:gd name="csY14" fmla="*/ 58783 h 3236393"/>
              <a:gd name="csX15" fmla="*/ 137160 w 4153988"/>
              <a:gd name="csY15" fmla="*/ 91440 h 3236393"/>
              <a:gd name="csX16" fmla="*/ 117565 w 4153988"/>
              <a:gd name="csY16" fmla="*/ 104503 h 3236393"/>
              <a:gd name="csX17" fmla="*/ 84908 w 4153988"/>
              <a:gd name="csY17" fmla="*/ 117565 h 3236393"/>
              <a:gd name="csX18" fmla="*/ 26125 w 4153988"/>
              <a:gd name="csY18" fmla="*/ 209005 h 3236393"/>
              <a:gd name="csX19" fmla="*/ 13062 w 4153988"/>
              <a:gd name="csY19" fmla="*/ 261257 h 3236393"/>
              <a:gd name="csX20" fmla="*/ 6531 w 4153988"/>
              <a:gd name="csY20" fmla="*/ 320040 h 3236393"/>
              <a:gd name="csX21" fmla="*/ 0 w 4153988"/>
              <a:gd name="csY21" fmla="*/ 372291 h 3236393"/>
              <a:gd name="csX22" fmla="*/ 13062 w 4153988"/>
              <a:gd name="csY22" fmla="*/ 646611 h 3236393"/>
              <a:gd name="csX23" fmla="*/ 45720 w 4153988"/>
              <a:gd name="csY23" fmla="*/ 751114 h 3236393"/>
              <a:gd name="csX24" fmla="*/ 91440 w 4153988"/>
              <a:gd name="csY24" fmla="*/ 822960 h 3236393"/>
              <a:gd name="csX25" fmla="*/ 143691 w 4153988"/>
              <a:gd name="csY25" fmla="*/ 875211 h 3236393"/>
              <a:gd name="csX26" fmla="*/ 182880 w 4153988"/>
              <a:gd name="csY26" fmla="*/ 907868 h 3236393"/>
              <a:gd name="csX27" fmla="*/ 248194 w 4153988"/>
              <a:gd name="csY27" fmla="*/ 973183 h 3236393"/>
              <a:gd name="csX28" fmla="*/ 333102 w 4153988"/>
              <a:gd name="csY28" fmla="*/ 1077685 h 3236393"/>
              <a:gd name="csX29" fmla="*/ 372291 w 4153988"/>
              <a:gd name="csY29" fmla="*/ 1123405 h 3236393"/>
              <a:gd name="csX30" fmla="*/ 391885 w 4153988"/>
              <a:gd name="csY30" fmla="*/ 1156063 h 3236393"/>
              <a:gd name="csX31" fmla="*/ 437605 w 4153988"/>
              <a:gd name="csY31" fmla="*/ 1201783 h 3236393"/>
              <a:gd name="csX32" fmla="*/ 489857 w 4153988"/>
              <a:gd name="csY32" fmla="*/ 1273628 h 3236393"/>
              <a:gd name="csX33" fmla="*/ 542108 w 4153988"/>
              <a:gd name="csY33" fmla="*/ 1352005 h 3236393"/>
              <a:gd name="csX34" fmla="*/ 568234 w 4153988"/>
              <a:gd name="csY34" fmla="*/ 1423851 h 3236393"/>
              <a:gd name="csX35" fmla="*/ 581297 w 4153988"/>
              <a:gd name="csY35" fmla="*/ 1476103 h 3236393"/>
              <a:gd name="csX36" fmla="*/ 594360 w 4153988"/>
              <a:gd name="csY36" fmla="*/ 1521823 h 3236393"/>
              <a:gd name="csX37" fmla="*/ 600891 w 4153988"/>
              <a:gd name="csY37" fmla="*/ 1574074 h 3236393"/>
              <a:gd name="csX38" fmla="*/ 607422 w 4153988"/>
              <a:gd name="csY38" fmla="*/ 1619794 h 3236393"/>
              <a:gd name="csX39" fmla="*/ 613954 w 4153988"/>
              <a:gd name="csY39" fmla="*/ 1704703 h 3236393"/>
              <a:gd name="csX40" fmla="*/ 607422 w 4153988"/>
              <a:gd name="csY40" fmla="*/ 1841863 h 3236393"/>
              <a:gd name="csX41" fmla="*/ 594360 w 4153988"/>
              <a:gd name="csY41" fmla="*/ 1861457 h 3236393"/>
              <a:gd name="csX42" fmla="*/ 581297 w 4153988"/>
              <a:gd name="csY42" fmla="*/ 1887583 h 3236393"/>
              <a:gd name="csX43" fmla="*/ 607422 w 4153988"/>
              <a:gd name="csY43" fmla="*/ 2129245 h 3236393"/>
              <a:gd name="csX44" fmla="*/ 620485 w 4153988"/>
              <a:gd name="csY44" fmla="*/ 2155371 h 3236393"/>
              <a:gd name="csX45" fmla="*/ 640080 w 4153988"/>
              <a:gd name="csY45" fmla="*/ 2168434 h 3236393"/>
              <a:gd name="csX46" fmla="*/ 627017 w 4153988"/>
              <a:gd name="csY46" fmla="*/ 2194560 h 3236393"/>
              <a:gd name="csX47" fmla="*/ 646611 w 4153988"/>
              <a:gd name="csY47" fmla="*/ 2272937 h 3236393"/>
              <a:gd name="csX48" fmla="*/ 666205 w 4153988"/>
              <a:gd name="csY48" fmla="*/ 2292531 h 3236393"/>
              <a:gd name="csX49" fmla="*/ 692331 w 4153988"/>
              <a:gd name="csY49" fmla="*/ 2325188 h 3236393"/>
              <a:gd name="csX50" fmla="*/ 738051 w 4153988"/>
              <a:gd name="csY50" fmla="*/ 2377440 h 3236393"/>
              <a:gd name="csX51" fmla="*/ 777240 w 4153988"/>
              <a:gd name="csY51" fmla="*/ 2429691 h 3236393"/>
              <a:gd name="csX52" fmla="*/ 829491 w 4153988"/>
              <a:gd name="csY52" fmla="*/ 2475411 h 3236393"/>
              <a:gd name="csX53" fmla="*/ 855617 w 4153988"/>
              <a:gd name="csY53" fmla="*/ 2508068 h 3236393"/>
              <a:gd name="csX54" fmla="*/ 1071154 w 4153988"/>
              <a:gd name="csY54" fmla="*/ 2671354 h 3236393"/>
              <a:gd name="csX55" fmla="*/ 1136468 w 4153988"/>
              <a:gd name="csY55" fmla="*/ 2710543 h 3236393"/>
              <a:gd name="csX56" fmla="*/ 1169125 w 4153988"/>
              <a:gd name="csY56" fmla="*/ 2723605 h 3236393"/>
              <a:gd name="csX57" fmla="*/ 1234440 w 4153988"/>
              <a:gd name="csY57" fmla="*/ 2762794 h 3236393"/>
              <a:gd name="csX58" fmla="*/ 1306285 w 4153988"/>
              <a:gd name="csY58" fmla="*/ 2795451 h 3236393"/>
              <a:gd name="csX59" fmla="*/ 1345474 w 4153988"/>
              <a:gd name="csY59" fmla="*/ 2821577 h 3236393"/>
              <a:gd name="csX60" fmla="*/ 1365068 w 4153988"/>
              <a:gd name="csY60" fmla="*/ 2834640 h 3236393"/>
              <a:gd name="csX61" fmla="*/ 1423851 w 4153988"/>
              <a:gd name="csY61" fmla="*/ 2860765 h 3236393"/>
              <a:gd name="csX62" fmla="*/ 1652451 w 4153988"/>
              <a:gd name="csY62" fmla="*/ 2958737 h 3236393"/>
              <a:gd name="csX63" fmla="*/ 1717765 w 4153988"/>
              <a:gd name="csY63" fmla="*/ 2971800 h 3236393"/>
              <a:gd name="csX64" fmla="*/ 1848394 w 4153988"/>
              <a:gd name="csY64" fmla="*/ 3004457 h 3236393"/>
              <a:gd name="csX65" fmla="*/ 1920240 w 4153988"/>
              <a:gd name="csY65" fmla="*/ 3010988 h 3236393"/>
              <a:gd name="csX66" fmla="*/ 2031274 w 4153988"/>
              <a:gd name="csY66" fmla="*/ 3024051 h 3236393"/>
              <a:gd name="csX67" fmla="*/ 2135777 w 4153988"/>
              <a:gd name="csY67" fmla="*/ 3043645 h 3236393"/>
              <a:gd name="csX68" fmla="*/ 2194560 w 4153988"/>
              <a:gd name="csY68" fmla="*/ 3050177 h 3236393"/>
              <a:gd name="csX69" fmla="*/ 2299062 w 4153988"/>
              <a:gd name="csY69" fmla="*/ 3063240 h 3236393"/>
              <a:gd name="csX70" fmla="*/ 2553788 w 4153988"/>
              <a:gd name="csY70" fmla="*/ 3095897 h 3236393"/>
              <a:gd name="csX71" fmla="*/ 2795451 w 4153988"/>
              <a:gd name="csY71" fmla="*/ 3108960 h 3236393"/>
              <a:gd name="csX72" fmla="*/ 2841171 w 4153988"/>
              <a:gd name="csY72" fmla="*/ 3115491 h 3236393"/>
              <a:gd name="csX73" fmla="*/ 2873828 w 4153988"/>
              <a:gd name="csY73" fmla="*/ 3122023 h 3236393"/>
              <a:gd name="csX74" fmla="*/ 2932611 w 4153988"/>
              <a:gd name="csY74" fmla="*/ 3128554 h 3236393"/>
              <a:gd name="csX75" fmla="*/ 2997925 w 4153988"/>
              <a:gd name="csY75" fmla="*/ 3141617 h 3236393"/>
              <a:gd name="csX76" fmla="*/ 3089365 w 4153988"/>
              <a:gd name="csY76" fmla="*/ 3154680 h 3236393"/>
              <a:gd name="csX77" fmla="*/ 3154680 w 4153988"/>
              <a:gd name="csY77" fmla="*/ 3174274 h 3236393"/>
              <a:gd name="csX78" fmla="*/ 3174274 w 4153988"/>
              <a:gd name="csY78" fmla="*/ 3180805 h 3236393"/>
              <a:gd name="csX79" fmla="*/ 3291840 w 4153988"/>
              <a:gd name="csY79" fmla="*/ 3206931 h 3236393"/>
              <a:gd name="csX80" fmla="*/ 3311434 w 4153988"/>
              <a:gd name="csY80" fmla="*/ 3213463 h 3236393"/>
              <a:gd name="csX81" fmla="*/ 3494314 w 4153988"/>
              <a:gd name="csY81" fmla="*/ 3226525 h 3236393"/>
              <a:gd name="csX82" fmla="*/ 3762102 w 4153988"/>
              <a:gd name="csY82" fmla="*/ 3219994 h 3236393"/>
              <a:gd name="csX83" fmla="*/ 3847011 w 4153988"/>
              <a:gd name="csY83" fmla="*/ 3206931 h 3236393"/>
              <a:gd name="csX84" fmla="*/ 3918857 w 4153988"/>
              <a:gd name="csY84" fmla="*/ 3180805 h 3236393"/>
              <a:gd name="csX85" fmla="*/ 3971108 w 4153988"/>
              <a:gd name="csY85" fmla="*/ 3167743 h 3236393"/>
              <a:gd name="csX86" fmla="*/ 3990702 w 4153988"/>
              <a:gd name="csY86" fmla="*/ 3148148 h 3236393"/>
              <a:gd name="csX87" fmla="*/ 4023360 w 4153988"/>
              <a:gd name="csY87" fmla="*/ 3128554 h 3236393"/>
              <a:gd name="csX88" fmla="*/ 4049485 w 4153988"/>
              <a:gd name="csY88" fmla="*/ 3095897 h 3236393"/>
              <a:gd name="csX89" fmla="*/ 4088674 w 4153988"/>
              <a:gd name="csY89" fmla="*/ 3043645 h 3236393"/>
              <a:gd name="csX90" fmla="*/ 4121331 w 4153988"/>
              <a:gd name="csY90" fmla="*/ 2965268 h 3236393"/>
              <a:gd name="csX91" fmla="*/ 4127862 w 4153988"/>
              <a:gd name="csY91" fmla="*/ 2913017 h 3236393"/>
              <a:gd name="csX92" fmla="*/ 4140925 w 4153988"/>
              <a:gd name="csY92" fmla="*/ 2821577 h 3236393"/>
              <a:gd name="csX93" fmla="*/ 4153988 w 4153988"/>
              <a:gd name="csY93" fmla="*/ 2697480 h 3236393"/>
              <a:gd name="csX94" fmla="*/ 4147457 w 4153988"/>
              <a:gd name="csY94" fmla="*/ 2527663 h 3236393"/>
              <a:gd name="csX95" fmla="*/ 4134394 w 4153988"/>
              <a:gd name="csY95" fmla="*/ 2495005 h 3236393"/>
              <a:gd name="csX96" fmla="*/ 4101737 w 4153988"/>
              <a:gd name="csY96" fmla="*/ 2449285 h 3236393"/>
              <a:gd name="csX97" fmla="*/ 4075611 w 4153988"/>
              <a:gd name="csY97" fmla="*/ 2410097 h 3236393"/>
              <a:gd name="csX98" fmla="*/ 4029891 w 4153988"/>
              <a:gd name="csY98" fmla="*/ 2351314 h 3236393"/>
              <a:gd name="csX99" fmla="*/ 4010297 w 4153988"/>
              <a:gd name="csY99" fmla="*/ 2344783 h 3236393"/>
              <a:gd name="csX100" fmla="*/ 3925388 w 4153988"/>
              <a:gd name="csY100" fmla="*/ 2318657 h 3236393"/>
              <a:gd name="csX101" fmla="*/ 3827417 w 4153988"/>
              <a:gd name="csY101" fmla="*/ 2325188 h 3236393"/>
              <a:gd name="csX102" fmla="*/ 3755571 w 4153988"/>
              <a:gd name="csY102" fmla="*/ 2344783 h 3236393"/>
              <a:gd name="csX103" fmla="*/ 3729445 w 4153988"/>
              <a:gd name="csY103" fmla="*/ 2351314 h 3236393"/>
              <a:gd name="csX104" fmla="*/ 3677194 w 4153988"/>
              <a:gd name="csY104" fmla="*/ 2377440 h 3236393"/>
              <a:gd name="csX105" fmla="*/ 3624942 w 4153988"/>
              <a:gd name="csY105" fmla="*/ 2416628 h 3236393"/>
              <a:gd name="csX106" fmla="*/ 3572691 w 4153988"/>
              <a:gd name="csY106" fmla="*/ 2442754 h 3236393"/>
              <a:gd name="csX107" fmla="*/ 3533502 w 4153988"/>
              <a:gd name="csY107" fmla="*/ 2462348 h 3236393"/>
              <a:gd name="csX108" fmla="*/ 3513908 w 4153988"/>
              <a:gd name="csY108" fmla="*/ 2481943 h 3236393"/>
              <a:gd name="csX109" fmla="*/ 3461657 w 4153988"/>
              <a:gd name="csY109" fmla="*/ 2501537 h 3236393"/>
              <a:gd name="csX110" fmla="*/ 3435531 w 4153988"/>
              <a:gd name="csY110" fmla="*/ 2514600 h 3236393"/>
              <a:gd name="csX111" fmla="*/ 3389811 w 4153988"/>
              <a:gd name="csY111" fmla="*/ 2527663 h 3236393"/>
              <a:gd name="csX112" fmla="*/ 3344091 w 4153988"/>
              <a:gd name="csY112" fmla="*/ 2540725 h 3236393"/>
              <a:gd name="csX113" fmla="*/ 3226525 w 4153988"/>
              <a:gd name="csY113" fmla="*/ 2527663 h 3236393"/>
              <a:gd name="csX114" fmla="*/ 3174274 w 4153988"/>
              <a:gd name="csY114" fmla="*/ 2468880 h 3236393"/>
              <a:gd name="csX115" fmla="*/ 3141617 w 4153988"/>
              <a:gd name="csY115" fmla="*/ 2410097 h 3236393"/>
              <a:gd name="csX116" fmla="*/ 3122022 w 4153988"/>
              <a:gd name="csY116" fmla="*/ 2383971 h 3236393"/>
              <a:gd name="csX117" fmla="*/ 3102428 w 4153988"/>
              <a:gd name="csY117" fmla="*/ 2325188 h 3236393"/>
              <a:gd name="csX118" fmla="*/ 3082834 w 4153988"/>
              <a:gd name="csY118" fmla="*/ 2279468 h 3236393"/>
              <a:gd name="csX119" fmla="*/ 3076302 w 4153988"/>
              <a:gd name="csY119" fmla="*/ 2240280 h 3236393"/>
              <a:gd name="csX120" fmla="*/ 3069771 w 4153988"/>
              <a:gd name="csY120" fmla="*/ 2214154 h 3236393"/>
              <a:gd name="csX121" fmla="*/ 3050177 w 4153988"/>
              <a:gd name="csY121" fmla="*/ 2109651 h 3236393"/>
              <a:gd name="csX122" fmla="*/ 3056708 w 4153988"/>
              <a:gd name="csY122" fmla="*/ 1874520 h 3236393"/>
              <a:gd name="csX123" fmla="*/ 3069771 w 4153988"/>
              <a:gd name="csY123" fmla="*/ 1822268 h 3236393"/>
              <a:gd name="csX124" fmla="*/ 3115491 w 4153988"/>
              <a:gd name="csY124" fmla="*/ 1737360 h 3236393"/>
              <a:gd name="csX125" fmla="*/ 3128554 w 4153988"/>
              <a:gd name="csY125" fmla="*/ 1704703 h 3236393"/>
              <a:gd name="csX126" fmla="*/ 3148148 w 4153988"/>
              <a:gd name="csY126" fmla="*/ 1678577 h 3236393"/>
              <a:gd name="csX127" fmla="*/ 3180805 w 4153988"/>
              <a:gd name="csY127" fmla="*/ 1593668 h 3236393"/>
              <a:gd name="csX128" fmla="*/ 3206931 w 4153988"/>
              <a:gd name="csY128" fmla="*/ 1534885 h 3236393"/>
              <a:gd name="csX129" fmla="*/ 3239588 w 4153988"/>
              <a:gd name="csY129" fmla="*/ 1463040 h 3236393"/>
              <a:gd name="csX130" fmla="*/ 3272245 w 4153988"/>
              <a:gd name="csY130" fmla="*/ 1306285 h 3236393"/>
              <a:gd name="csX131" fmla="*/ 3278777 w 4153988"/>
              <a:gd name="csY131" fmla="*/ 1227908 h 3236393"/>
              <a:gd name="csX132" fmla="*/ 3285308 w 4153988"/>
              <a:gd name="csY132" fmla="*/ 1182188 h 3236393"/>
              <a:gd name="csX133" fmla="*/ 3298371 w 4153988"/>
              <a:gd name="csY133" fmla="*/ 1084217 h 3236393"/>
              <a:gd name="csX134" fmla="*/ 3291840 w 4153988"/>
              <a:gd name="csY134" fmla="*/ 1018903 h 3236393"/>
              <a:gd name="csX135" fmla="*/ 3239588 w 4153988"/>
              <a:gd name="csY135" fmla="*/ 953588 h 3236393"/>
              <a:gd name="csX136" fmla="*/ 3206931 w 4153988"/>
              <a:gd name="csY136" fmla="*/ 920931 h 3236393"/>
              <a:gd name="csX137" fmla="*/ 3108960 w 4153988"/>
              <a:gd name="csY137" fmla="*/ 855617 h 3236393"/>
              <a:gd name="csX138" fmla="*/ 3017520 w 4153988"/>
              <a:gd name="csY138" fmla="*/ 881743 h 3236393"/>
              <a:gd name="csX139" fmla="*/ 2919548 w 4153988"/>
              <a:gd name="csY139" fmla="*/ 914400 h 3236393"/>
              <a:gd name="csX140" fmla="*/ 2834640 w 4153988"/>
              <a:gd name="csY140" fmla="*/ 933994 h 3236393"/>
              <a:gd name="csX141" fmla="*/ 2749731 w 4153988"/>
              <a:gd name="csY141" fmla="*/ 960120 h 3236393"/>
              <a:gd name="csX142" fmla="*/ 2717074 w 4153988"/>
              <a:gd name="csY142" fmla="*/ 966651 h 3236393"/>
              <a:gd name="csX143" fmla="*/ 2677885 w 4153988"/>
              <a:gd name="csY143" fmla="*/ 992777 h 3236393"/>
              <a:gd name="csX144" fmla="*/ 2625634 w 4153988"/>
              <a:gd name="csY144" fmla="*/ 1018903 h 3236393"/>
              <a:gd name="csX145" fmla="*/ 2579914 w 4153988"/>
              <a:gd name="csY145" fmla="*/ 1045028 h 3236393"/>
              <a:gd name="csX146" fmla="*/ 2560320 w 4153988"/>
              <a:gd name="csY146" fmla="*/ 1051560 h 3236393"/>
              <a:gd name="csX147" fmla="*/ 2540725 w 4153988"/>
              <a:gd name="csY147" fmla="*/ 1064623 h 3236393"/>
              <a:gd name="csX148" fmla="*/ 2508068 w 4153988"/>
              <a:gd name="csY148" fmla="*/ 1077685 h 3236393"/>
              <a:gd name="csX149" fmla="*/ 2481942 w 4153988"/>
              <a:gd name="csY149" fmla="*/ 1090748 h 3236393"/>
              <a:gd name="csX150" fmla="*/ 2449285 w 4153988"/>
              <a:gd name="csY150" fmla="*/ 1097280 h 3236393"/>
              <a:gd name="csX151" fmla="*/ 2344782 w 4153988"/>
              <a:gd name="csY151" fmla="*/ 1116874 h 3236393"/>
              <a:gd name="csX152" fmla="*/ 2272937 w 4153988"/>
              <a:gd name="csY152" fmla="*/ 1136468 h 3236393"/>
              <a:gd name="csX153" fmla="*/ 2240280 w 4153988"/>
              <a:gd name="csY153" fmla="*/ 1143000 h 3236393"/>
              <a:gd name="csX154" fmla="*/ 2181497 w 4153988"/>
              <a:gd name="csY154" fmla="*/ 1156063 h 3236393"/>
              <a:gd name="csX155" fmla="*/ 2155371 w 4153988"/>
              <a:gd name="csY155" fmla="*/ 1169125 h 3236393"/>
              <a:gd name="csX156" fmla="*/ 1952897 w 4153988"/>
              <a:gd name="csY156" fmla="*/ 1156063 h 3236393"/>
              <a:gd name="csX157" fmla="*/ 1783080 w 4153988"/>
              <a:gd name="csY157" fmla="*/ 1051560 h 3236393"/>
              <a:gd name="csX158" fmla="*/ 1743891 w 4153988"/>
              <a:gd name="csY158" fmla="*/ 1005840 h 3236393"/>
              <a:gd name="csX159" fmla="*/ 1698171 w 4153988"/>
              <a:gd name="csY159" fmla="*/ 888274 h 3236393"/>
              <a:gd name="csX160" fmla="*/ 1672045 w 4153988"/>
              <a:gd name="csY160" fmla="*/ 855617 h 3236393"/>
              <a:gd name="csX161" fmla="*/ 1645920 w 4153988"/>
              <a:gd name="csY161" fmla="*/ 816428 h 3236393"/>
              <a:gd name="csX162" fmla="*/ 1593668 w 4153988"/>
              <a:gd name="csY162" fmla="*/ 751114 h 3236393"/>
              <a:gd name="csX163" fmla="*/ 1574074 w 4153988"/>
              <a:gd name="csY163" fmla="*/ 718457 h 3236393"/>
              <a:gd name="csX164" fmla="*/ 1541417 w 4153988"/>
              <a:gd name="csY164" fmla="*/ 679268 h 3236393"/>
              <a:gd name="csX165" fmla="*/ 1534885 w 4153988"/>
              <a:gd name="csY165" fmla="*/ 659674 h 3236393"/>
              <a:gd name="csX166" fmla="*/ 1495697 w 4153988"/>
              <a:gd name="csY166" fmla="*/ 600891 h 3236393"/>
              <a:gd name="csX167" fmla="*/ 1482634 w 4153988"/>
              <a:gd name="csY167" fmla="*/ 561703 h 3236393"/>
              <a:gd name="csX168" fmla="*/ 1476102 w 4153988"/>
              <a:gd name="csY168" fmla="*/ 542108 h 3236393"/>
              <a:gd name="csX169" fmla="*/ 1476102 w 4153988"/>
              <a:gd name="csY169" fmla="*/ 476794 h 3236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</a:cxnLst>
            <a:rect l="l" t="t" r="r" b="b"/>
            <a:pathLst>
              <a:path w="4153988" h="3236393">
                <a:moveTo>
                  <a:pt x="1476102" y="476794"/>
                </a:moveTo>
                <a:cubicBezTo>
                  <a:pt x="1457596" y="438694"/>
                  <a:pt x="1590421" y="613982"/>
                  <a:pt x="1365068" y="313508"/>
                </a:cubicBezTo>
                <a:cubicBezTo>
                  <a:pt x="1357451" y="303352"/>
                  <a:pt x="1342102" y="302114"/>
                  <a:pt x="1332411" y="293914"/>
                </a:cubicBezTo>
                <a:cubicBezTo>
                  <a:pt x="1313608" y="278004"/>
                  <a:pt x="1298130" y="258509"/>
                  <a:pt x="1280160" y="241663"/>
                </a:cubicBezTo>
                <a:cubicBezTo>
                  <a:pt x="1245844" y="209492"/>
                  <a:pt x="1127551" y="110957"/>
                  <a:pt x="1110342" y="104503"/>
                </a:cubicBezTo>
                <a:lnTo>
                  <a:pt x="1058091" y="84908"/>
                </a:lnTo>
                <a:cubicBezTo>
                  <a:pt x="1045124" y="80277"/>
                  <a:pt x="1031558" y="77269"/>
                  <a:pt x="1018902" y="71845"/>
                </a:cubicBezTo>
                <a:cubicBezTo>
                  <a:pt x="1001004" y="64174"/>
                  <a:pt x="984731" y="52952"/>
                  <a:pt x="966651" y="45720"/>
                </a:cubicBezTo>
                <a:cubicBezTo>
                  <a:pt x="932194" y="31937"/>
                  <a:pt x="862887" y="9383"/>
                  <a:pt x="822960" y="6531"/>
                </a:cubicBezTo>
                <a:cubicBezTo>
                  <a:pt x="753434" y="1565"/>
                  <a:pt x="683623" y="2177"/>
                  <a:pt x="613954" y="0"/>
                </a:cubicBezTo>
                <a:cubicBezTo>
                  <a:pt x="563880" y="2177"/>
                  <a:pt x="513546" y="996"/>
                  <a:pt x="463731" y="6531"/>
                </a:cubicBezTo>
                <a:cubicBezTo>
                  <a:pt x="454054" y="7606"/>
                  <a:pt x="446931" y="16796"/>
                  <a:pt x="437605" y="19594"/>
                </a:cubicBezTo>
                <a:cubicBezTo>
                  <a:pt x="424921" y="23399"/>
                  <a:pt x="411321" y="23147"/>
                  <a:pt x="398417" y="26125"/>
                </a:cubicBezTo>
                <a:cubicBezTo>
                  <a:pt x="319960" y="44230"/>
                  <a:pt x="385602" y="35219"/>
                  <a:pt x="300445" y="52251"/>
                </a:cubicBezTo>
                <a:cubicBezTo>
                  <a:pt x="285349" y="55270"/>
                  <a:pt x="269695" y="55190"/>
                  <a:pt x="254725" y="58783"/>
                </a:cubicBezTo>
                <a:cubicBezTo>
                  <a:pt x="215176" y="68275"/>
                  <a:pt x="137160" y="91440"/>
                  <a:pt x="137160" y="91440"/>
                </a:cubicBezTo>
                <a:cubicBezTo>
                  <a:pt x="130628" y="95794"/>
                  <a:pt x="124586" y="100992"/>
                  <a:pt x="117565" y="104503"/>
                </a:cubicBezTo>
                <a:cubicBezTo>
                  <a:pt x="107079" y="109746"/>
                  <a:pt x="92628" y="108742"/>
                  <a:pt x="84908" y="117565"/>
                </a:cubicBezTo>
                <a:cubicBezTo>
                  <a:pt x="61047" y="144834"/>
                  <a:pt x="26125" y="209005"/>
                  <a:pt x="26125" y="209005"/>
                </a:cubicBezTo>
                <a:cubicBezTo>
                  <a:pt x="21771" y="226422"/>
                  <a:pt x="16182" y="243577"/>
                  <a:pt x="13062" y="261257"/>
                </a:cubicBezTo>
                <a:cubicBezTo>
                  <a:pt x="9636" y="280672"/>
                  <a:pt x="8834" y="300460"/>
                  <a:pt x="6531" y="320040"/>
                </a:cubicBezTo>
                <a:cubicBezTo>
                  <a:pt x="4480" y="337472"/>
                  <a:pt x="2177" y="354874"/>
                  <a:pt x="0" y="372291"/>
                </a:cubicBezTo>
                <a:cubicBezTo>
                  <a:pt x="4354" y="463731"/>
                  <a:pt x="5614" y="555371"/>
                  <a:pt x="13062" y="646611"/>
                </a:cubicBezTo>
                <a:cubicBezTo>
                  <a:pt x="13992" y="658002"/>
                  <a:pt x="44318" y="747909"/>
                  <a:pt x="45720" y="751114"/>
                </a:cubicBezTo>
                <a:cubicBezTo>
                  <a:pt x="53257" y="768341"/>
                  <a:pt x="76191" y="806325"/>
                  <a:pt x="91440" y="822960"/>
                </a:cubicBezTo>
                <a:cubicBezTo>
                  <a:pt x="108084" y="841117"/>
                  <a:pt x="125641" y="858451"/>
                  <a:pt x="143691" y="875211"/>
                </a:cubicBezTo>
                <a:cubicBezTo>
                  <a:pt x="156152" y="886781"/>
                  <a:pt x="170475" y="896238"/>
                  <a:pt x="182880" y="907868"/>
                </a:cubicBezTo>
                <a:cubicBezTo>
                  <a:pt x="205342" y="928926"/>
                  <a:pt x="227794" y="950122"/>
                  <a:pt x="248194" y="973183"/>
                </a:cubicBezTo>
                <a:cubicBezTo>
                  <a:pt x="277932" y="1006800"/>
                  <a:pt x="304517" y="1043082"/>
                  <a:pt x="333102" y="1077685"/>
                </a:cubicBezTo>
                <a:cubicBezTo>
                  <a:pt x="345886" y="1093160"/>
                  <a:pt x="361964" y="1106193"/>
                  <a:pt x="372291" y="1123405"/>
                </a:cubicBezTo>
                <a:cubicBezTo>
                  <a:pt x="378822" y="1134291"/>
                  <a:pt x="383758" y="1146310"/>
                  <a:pt x="391885" y="1156063"/>
                </a:cubicBezTo>
                <a:cubicBezTo>
                  <a:pt x="405683" y="1172620"/>
                  <a:pt x="423807" y="1185226"/>
                  <a:pt x="437605" y="1201783"/>
                </a:cubicBezTo>
                <a:cubicBezTo>
                  <a:pt x="456562" y="1224532"/>
                  <a:pt x="472519" y="1249622"/>
                  <a:pt x="489857" y="1273628"/>
                </a:cubicBezTo>
                <a:cubicBezTo>
                  <a:pt x="527706" y="1326034"/>
                  <a:pt x="514360" y="1305759"/>
                  <a:pt x="542108" y="1352005"/>
                </a:cubicBezTo>
                <a:cubicBezTo>
                  <a:pt x="558294" y="1432930"/>
                  <a:pt x="534743" y="1330077"/>
                  <a:pt x="568234" y="1423851"/>
                </a:cubicBezTo>
                <a:cubicBezTo>
                  <a:pt x="574272" y="1440758"/>
                  <a:pt x="576671" y="1458756"/>
                  <a:pt x="581297" y="1476103"/>
                </a:cubicBezTo>
                <a:cubicBezTo>
                  <a:pt x="585381" y="1491418"/>
                  <a:pt x="590006" y="1506583"/>
                  <a:pt x="594360" y="1521823"/>
                </a:cubicBezTo>
                <a:cubicBezTo>
                  <a:pt x="596537" y="1539240"/>
                  <a:pt x="598571" y="1556675"/>
                  <a:pt x="600891" y="1574074"/>
                </a:cubicBezTo>
                <a:cubicBezTo>
                  <a:pt x="602925" y="1589334"/>
                  <a:pt x="605890" y="1604476"/>
                  <a:pt x="607422" y="1619794"/>
                </a:cubicBezTo>
                <a:cubicBezTo>
                  <a:pt x="610247" y="1648040"/>
                  <a:pt x="611777" y="1676400"/>
                  <a:pt x="613954" y="1704703"/>
                </a:cubicBezTo>
                <a:cubicBezTo>
                  <a:pt x="611777" y="1750423"/>
                  <a:pt x="613099" y="1796445"/>
                  <a:pt x="607422" y="1841863"/>
                </a:cubicBezTo>
                <a:cubicBezTo>
                  <a:pt x="606448" y="1849652"/>
                  <a:pt x="598254" y="1854642"/>
                  <a:pt x="594360" y="1861457"/>
                </a:cubicBezTo>
                <a:cubicBezTo>
                  <a:pt x="589529" y="1869911"/>
                  <a:pt x="585651" y="1878874"/>
                  <a:pt x="581297" y="1887583"/>
                </a:cubicBezTo>
                <a:cubicBezTo>
                  <a:pt x="587563" y="1981572"/>
                  <a:pt x="578279" y="2049100"/>
                  <a:pt x="607422" y="2129245"/>
                </a:cubicBezTo>
                <a:cubicBezTo>
                  <a:pt x="610749" y="2138395"/>
                  <a:pt x="614252" y="2147891"/>
                  <a:pt x="620485" y="2155371"/>
                </a:cubicBezTo>
                <a:cubicBezTo>
                  <a:pt x="625511" y="2161402"/>
                  <a:pt x="633548" y="2164080"/>
                  <a:pt x="640080" y="2168434"/>
                </a:cubicBezTo>
                <a:cubicBezTo>
                  <a:pt x="674913" y="2272938"/>
                  <a:pt x="627017" y="2107471"/>
                  <a:pt x="627017" y="2194560"/>
                </a:cubicBezTo>
                <a:cubicBezTo>
                  <a:pt x="627017" y="2221490"/>
                  <a:pt x="636610" y="2247933"/>
                  <a:pt x="646611" y="2272937"/>
                </a:cubicBezTo>
                <a:cubicBezTo>
                  <a:pt x="650041" y="2281513"/>
                  <a:pt x="660123" y="2285580"/>
                  <a:pt x="666205" y="2292531"/>
                </a:cubicBezTo>
                <a:cubicBezTo>
                  <a:pt x="675385" y="2303022"/>
                  <a:pt x="683967" y="2314036"/>
                  <a:pt x="692331" y="2325188"/>
                </a:cubicBezTo>
                <a:cubicBezTo>
                  <a:pt x="761075" y="2416847"/>
                  <a:pt x="607393" y="2223028"/>
                  <a:pt x="738051" y="2377440"/>
                </a:cubicBezTo>
                <a:cubicBezTo>
                  <a:pt x="752114" y="2394060"/>
                  <a:pt x="759823" y="2416628"/>
                  <a:pt x="777240" y="2429691"/>
                </a:cubicBezTo>
                <a:cubicBezTo>
                  <a:pt x="803253" y="2449201"/>
                  <a:pt x="806942" y="2450044"/>
                  <a:pt x="829491" y="2475411"/>
                </a:cubicBezTo>
                <a:cubicBezTo>
                  <a:pt x="838753" y="2485830"/>
                  <a:pt x="845005" y="2499028"/>
                  <a:pt x="855617" y="2508068"/>
                </a:cubicBezTo>
                <a:cubicBezTo>
                  <a:pt x="898474" y="2544576"/>
                  <a:pt x="1007368" y="2629893"/>
                  <a:pt x="1071154" y="2671354"/>
                </a:cubicBezTo>
                <a:cubicBezTo>
                  <a:pt x="1092442" y="2685191"/>
                  <a:pt x="1112894" y="2701114"/>
                  <a:pt x="1136468" y="2710543"/>
                </a:cubicBezTo>
                <a:cubicBezTo>
                  <a:pt x="1147354" y="2714897"/>
                  <a:pt x="1158780" y="2718088"/>
                  <a:pt x="1169125" y="2723605"/>
                </a:cubicBezTo>
                <a:cubicBezTo>
                  <a:pt x="1191528" y="2735553"/>
                  <a:pt x="1210866" y="2753364"/>
                  <a:pt x="1234440" y="2762794"/>
                </a:cubicBezTo>
                <a:cubicBezTo>
                  <a:pt x="1262530" y="2774030"/>
                  <a:pt x="1279191" y="2779646"/>
                  <a:pt x="1306285" y="2795451"/>
                </a:cubicBezTo>
                <a:cubicBezTo>
                  <a:pt x="1319846" y="2803362"/>
                  <a:pt x="1332411" y="2812868"/>
                  <a:pt x="1345474" y="2821577"/>
                </a:cubicBezTo>
                <a:cubicBezTo>
                  <a:pt x="1352005" y="2825931"/>
                  <a:pt x="1357621" y="2832158"/>
                  <a:pt x="1365068" y="2834640"/>
                </a:cubicBezTo>
                <a:cubicBezTo>
                  <a:pt x="1390501" y="2843117"/>
                  <a:pt x="1395510" y="2843761"/>
                  <a:pt x="1423851" y="2860765"/>
                </a:cubicBezTo>
                <a:cubicBezTo>
                  <a:pt x="1524427" y="2921111"/>
                  <a:pt x="1329776" y="2894201"/>
                  <a:pt x="1652451" y="2958737"/>
                </a:cubicBezTo>
                <a:cubicBezTo>
                  <a:pt x="1674222" y="2963091"/>
                  <a:pt x="1696143" y="2966755"/>
                  <a:pt x="1717765" y="2971800"/>
                </a:cubicBezTo>
                <a:cubicBezTo>
                  <a:pt x="1761474" y="2981999"/>
                  <a:pt x="1804329" y="2995928"/>
                  <a:pt x="1848394" y="3004457"/>
                </a:cubicBezTo>
                <a:cubicBezTo>
                  <a:pt x="1872003" y="3009026"/>
                  <a:pt x="1896329" y="3008426"/>
                  <a:pt x="1920240" y="3010988"/>
                </a:cubicBezTo>
                <a:cubicBezTo>
                  <a:pt x="1957295" y="3014958"/>
                  <a:pt x="1994428" y="3018468"/>
                  <a:pt x="2031274" y="3024051"/>
                </a:cubicBezTo>
                <a:cubicBezTo>
                  <a:pt x="2066315" y="3029360"/>
                  <a:pt x="2100781" y="3038046"/>
                  <a:pt x="2135777" y="3043645"/>
                </a:cubicBezTo>
                <a:cubicBezTo>
                  <a:pt x="2155244" y="3046760"/>
                  <a:pt x="2174986" y="3047828"/>
                  <a:pt x="2194560" y="3050177"/>
                </a:cubicBezTo>
                <a:lnTo>
                  <a:pt x="2299062" y="3063240"/>
                </a:lnTo>
                <a:cubicBezTo>
                  <a:pt x="2435508" y="3082279"/>
                  <a:pt x="2445237" y="3089251"/>
                  <a:pt x="2553788" y="3095897"/>
                </a:cubicBezTo>
                <a:lnTo>
                  <a:pt x="2795451" y="3108960"/>
                </a:lnTo>
                <a:cubicBezTo>
                  <a:pt x="2810691" y="3111137"/>
                  <a:pt x="2825986" y="3112960"/>
                  <a:pt x="2841171" y="3115491"/>
                </a:cubicBezTo>
                <a:cubicBezTo>
                  <a:pt x="2852121" y="3117316"/>
                  <a:pt x="2862838" y="3120453"/>
                  <a:pt x="2873828" y="3122023"/>
                </a:cubicBezTo>
                <a:cubicBezTo>
                  <a:pt x="2893345" y="3124811"/>
                  <a:pt x="2913137" y="3125479"/>
                  <a:pt x="2932611" y="3128554"/>
                </a:cubicBezTo>
                <a:cubicBezTo>
                  <a:pt x="2954542" y="3132017"/>
                  <a:pt x="2976103" y="3137525"/>
                  <a:pt x="2997925" y="3141617"/>
                </a:cubicBezTo>
                <a:cubicBezTo>
                  <a:pt x="3035580" y="3148677"/>
                  <a:pt x="3048954" y="3149628"/>
                  <a:pt x="3089365" y="3154680"/>
                </a:cubicBezTo>
                <a:lnTo>
                  <a:pt x="3154680" y="3174274"/>
                </a:lnTo>
                <a:cubicBezTo>
                  <a:pt x="3161260" y="3176299"/>
                  <a:pt x="3167577" y="3179210"/>
                  <a:pt x="3174274" y="3180805"/>
                </a:cubicBezTo>
                <a:cubicBezTo>
                  <a:pt x="3213327" y="3190103"/>
                  <a:pt x="3253756" y="3194235"/>
                  <a:pt x="3291840" y="3206931"/>
                </a:cubicBezTo>
                <a:cubicBezTo>
                  <a:pt x="3298371" y="3209108"/>
                  <a:pt x="3304660" y="3212231"/>
                  <a:pt x="3311434" y="3213463"/>
                </a:cubicBezTo>
                <a:cubicBezTo>
                  <a:pt x="3365771" y="3223343"/>
                  <a:pt x="3448425" y="3224231"/>
                  <a:pt x="3494314" y="3226525"/>
                </a:cubicBezTo>
                <a:cubicBezTo>
                  <a:pt x="3607756" y="3242732"/>
                  <a:pt x="3552039" y="3237872"/>
                  <a:pt x="3762102" y="3219994"/>
                </a:cubicBezTo>
                <a:cubicBezTo>
                  <a:pt x="3790635" y="3217566"/>
                  <a:pt x="3818931" y="3212547"/>
                  <a:pt x="3847011" y="3206931"/>
                </a:cubicBezTo>
                <a:cubicBezTo>
                  <a:pt x="3948699" y="3186593"/>
                  <a:pt x="3849924" y="3203782"/>
                  <a:pt x="3918857" y="3180805"/>
                </a:cubicBezTo>
                <a:cubicBezTo>
                  <a:pt x="3935889" y="3175128"/>
                  <a:pt x="3953691" y="3172097"/>
                  <a:pt x="3971108" y="3167743"/>
                </a:cubicBezTo>
                <a:cubicBezTo>
                  <a:pt x="3977639" y="3161211"/>
                  <a:pt x="3983312" y="3153690"/>
                  <a:pt x="3990702" y="3148148"/>
                </a:cubicBezTo>
                <a:cubicBezTo>
                  <a:pt x="4000858" y="3140531"/>
                  <a:pt x="4013872" y="3136988"/>
                  <a:pt x="4023360" y="3128554"/>
                </a:cubicBezTo>
                <a:cubicBezTo>
                  <a:pt x="4033779" y="3119293"/>
                  <a:pt x="4040305" y="3106388"/>
                  <a:pt x="4049485" y="3095897"/>
                </a:cubicBezTo>
                <a:cubicBezTo>
                  <a:pt x="4073948" y="3067939"/>
                  <a:pt x="4069975" y="3083382"/>
                  <a:pt x="4088674" y="3043645"/>
                </a:cubicBezTo>
                <a:cubicBezTo>
                  <a:pt x="4100725" y="3018036"/>
                  <a:pt x="4121331" y="2965268"/>
                  <a:pt x="4121331" y="2965268"/>
                </a:cubicBezTo>
                <a:cubicBezTo>
                  <a:pt x="4123508" y="2947851"/>
                  <a:pt x="4125380" y="2930393"/>
                  <a:pt x="4127862" y="2913017"/>
                </a:cubicBezTo>
                <a:cubicBezTo>
                  <a:pt x="4137350" y="2846604"/>
                  <a:pt x="4132659" y="2900104"/>
                  <a:pt x="4140925" y="2821577"/>
                </a:cubicBezTo>
                <a:cubicBezTo>
                  <a:pt x="4157166" y="2667287"/>
                  <a:pt x="4138548" y="2821011"/>
                  <a:pt x="4153988" y="2697480"/>
                </a:cubicBezTo>
                <a:cubicBezTo>
                  <a:pt x="4151811" y="2640874"/>
                  <a:pt x="4152913" y="2584047"/>
                  <a:pt x="4147457" y="2527663"/>
                </a:cubicBezTo>
                <a:cubicBezTo>
                  <a:pt x="4146328" y="2515993"/>
                  <a:pt x="4139637" y="2505492"/>
                  <a:pt x="4134394" y="2495005"/>
                </a:cubicBezTo>
                <a:cubicBezTo>
                  <a:pt x="4129088" y="2484393"/>
                  <a:pt x="4106910" y="2456675"/>
                  <a:pt x="4101737" y="2449285"/>
                </a:cubicBezTo>
                <a:cubicBezTo>
                  <a:pt x="4092734" y="2436423"/>
                  <a:pt x="4082632" y="2424139"/>
                  <a:pt x="4075611" y="2410097"/>
                </a:cubicBezTo>
                <a:cubicBezTo>
                  <a:pt x="4060665" y="2380205"/>
                  <a:pt x="4061524" y="2375039"/>
                  <a:pt x="4029891" y="2351314"/>
                </a:cubicBezTo>
                <a:cubicBezTo>
                  <a:pt x="4024383" y="2347183"/>
                  <a:pt x="4016767" y="2347136"/>
                  <a:pt x="4010297" y="2344783"/>
                </a:cubicBezTo>
                <a:cubicBezTo>
                  <a:pt x="3943298" y="2320420"/>
                  <a:pt x="3978883" y="2329355"/>
                  <a:pt x="3925388" y="2318657"/>
                </a:cubicBezTo>
                <a:cubicBezTo>
                  <a:pt x="3892731" y="2320834"/>
                  <a:pt x="3859872" y="2320955"/>
                  <a:pt x="3827417" y="2325188"/>
                </a:cubicBezTo>
                <a:cubicBezTo>
                  <a:pt x="3784554" y="2330779"/>
                  <a:pt x="3786035" y="2336079"/>
                  <a:pt x="3755571" y="2344783"/>
                </a:cubicBezTo>
                <a:cubicBezTo>
                  <a:pt x="3746940" y="2347249"/>
                  <a:pt x="3738154" y="2349137"/>
                  <a:pt x="3729445" y="2351314"/>
                </a:cubicBezTo>
                <a:cubicBezTo>
                  <a:pt x="3671424" y="2394831"/>
                  <a:pt x="3734262" y="2352982"/>
                  <a:pt x="3677194" y="2377440"/>
                </a:cubicBezTo>
                <a:cubicBezTo>
                  <a:pt x="3664180" y="2383018"/>
                  <a:pt x="3631446" y="2412626"/>
                  <a:pt x="3624942" y="2416628"/>
                </a:cubicBezTo>
                <a:cubicBezTo>
                  <a:pt x="3608358" y="2426834"/>
                  <a:pt x="3590108" y="2434045"/>
                  <a:pt x="3572691" y="2442754"/>
                </a:cubicBezTo>
                <a:lnTo>
                  <a:pt x="3533502" y="2462348"/>
                </a:lnTo>
                <a:cubicBezTo>
                  <a:pt x="3526971" y="2468880"/>
                  <a:pt x="3521741" y="2477047"/>
                  <a:pt x="3513908" y="2481943"/>
                </a:cubicBezTo>
                <a:cubicBezTo>
                  <a:pt x="3494238" y="2494237"/>
                  <a:pt x="3480993" y="2493250"/>
                  <a:pt x="3461657" y="2501537"/>
                </a:cubicBezTo>
                <a:cubicBezTo>
                  <a:pt x="3452708" y="2505373"/>
                  <a:pt x="3444681" y="2511273"/>
                  <a:pt x="3435531" y="2514600"/>
                </a:cubicBezTo>
                <a:cubicBezTo>
                  <a:pt x="3420635" y="2520017"/>
                  <a:pt x="3404992" y="2523109"/>
                  <a:pt x="3389811" y="2527663"/>
                </a:cubicBezTo>
                <a:cubicBezTo>
                  <a:pt x="3342975" y="2541714"/>
                  <a:pt x="3401313" y="2526421"/>
                  <a:pt x="3344091" y="2540725"/>
                </a:cubicBezTo>
                <a:cubicBezTo>
                  <a:pt x="3304902" y="2536371"/>
                  <a:pt x="3264565" y="2538038"/>
                  <a:pt x="3226525" y="2527663"/>
                </a:cubicBezTo>
                <a:cubicBezTo>
                  <a:pt x="3217801" y="2525284"/>
                  <a:pt x="3177239" y="2473116"/>
                  <a:pt x="3174274" y="2468880"/>
                </a:cubicBezTo>
                <a:cubicBezTo>
                  <a:pt x="3126827" y="2401099"/>
                  <a:pt x="3177878" y="2468113"/>
                  <a:pt x="3141617" y="2410097"/>
                </a:cubicBezTo>
                <a:cubicBezTo>
                  <a:pt x="3135847" y="2400866"/>
                  <a:pt x="3127309" y="2393487"/>
                  <a:pt x="3122022" y="2383971"/>
                </a:cubicBezTo>
                <a:cubicBezTo>
                  <a:pt x="3108779" y="2360134"/>
                  <a:pt x="3109390" y="2349553"/>
                  <a:pt x="3102428" y="2325188"/>
                </a:cubicBezTo>
                <a:cubicBezTo>
                  <a:pt x="3096020" y="2302761"/>
                  <a:pt x="3094447" y="2302694"/>
                  <a:pt x="3082834" y="2279468"/>
                </a:cubicBezTo>
                <a:cubicBezTo>
                  <a:pt x="3080657" y="2266405"/>
                  <a:pt x="3078899" y="2253266"/>
                  <a:pt x="3076302" y="2240280"/>
                </a:cubicBezTo>
                <a:cubicBezTo>
                  <a:pt x="3074542" y="2231478"/>
                  <a:pt x="3071136" y="2223026"/>
                  <a:pt x="3069771" y="2214154"/>
                </a:cubicBezTo>
                <a:cubicBezTo>
                  <a:pt x="3054590" y="2115467"/>
                  <a:pt x="3074204" y="2193743"/>
                  <a:pt x="3050177" y="2109651"/>
                </a:cubicBezTo>
                <a:cubicBezTo>
                  <a:pt x="3037273" y="2006429"/>
                  <a:pt x="3038184" y="2041231"/>
                  <a:pt x="3056708" y="1874520"/>
                </a:cubicBezTo>
                <a:cubicBezTo>
                  <a:pt x="3058691" y="1856676"/>
                  <a:pt x="3063733" y="1839175"/>
                  <a:pt x="3069771" y="1822268"/>
                </a:cubicBezTo>
                <a:cubicBezTo>
                  <a:pt x="3078448" y="1797971"/>
                  <a:pt x="3104674" y="1758994"/>
                  <a:pt x="3115491" y="1737360"/>
                </a:cubicBezTo>
                <a:cubicBezTo>
                  <a:pt x="3120734" y="1726874"/>
                  <a:pt x="3122860" y="1714952"/>
                  <a:pt x="3128554" y="1704703"/>
                </a:cubicBezTo>
                <a:cubicBezTo>
                  <a:pt x="3133841" y="1695187"/>
                  <a:pt x="3143513" y="1688427"/>
                  <a:pt x="3148148" y="1678577"/>
                </a:cubicBezTo>
                <a:cubicBezTo>
                  <a:pt x="3161060" y="1651139"/>
                  <a:pt x="3169323" y="1621734"/>
                  <a:pt x="3180805" y="1593668"/>
                </a:cubicBezTo>
                <a:cubicBezTo>
                  <a:pt x="3188924" y="1573822"/>
                  <a:pt x="3198132" y="1554439"/>
                  <a:pt x="3206931" y="1534885"/>
                </a:cubicBezTo>
                <a:cubicBezTo>
                  <a:pt x="3217726" y="1510896"/>
                  <a:pt x="3233208" y="1488561"/>
                  <a:pt x="3239588" y="1463040"/>
                </a:cubicBezTo>
                <a:cubicBezTo>
                  <a:pt x="3256715" y="1394532"/>
                  <a:pt x="3263499" y="1376247"/>
                  <a:pt x="3272245" y="1306285"/>
                </a:cubicBezTo>
                <a:cubicBezTo>
                  <a:pt x="3275497" y="1280271"/>
                  <a:pt x="3276033" y="1253980"/>
                  <a:pt x="3278777" y="1227908"/>
                </a:cubicBezTo>
                <a:cubicBezTo>
                  <a:pt x="3280389" y="1212598"/>
                  <a:pt x="3283273" y="1197448"/>
                  <a:pt x="3285308" y="1182188"/>
                </a:cubicBezTo>
                <a:cubicBezTo>
                  <a:pt x="3302190" y="1055575"/>
                  <a:pt x="3281955" y="1199136"/>
                  <a:pt x="3298371" y="1084217"/>
                </a:cubicBezTo>
                <a:cubicBezTo>
                  <a:pt x="3296194" y="1062446"/>
                  <a:pt x="3300819" y="1038856"/>
                  <a:pt x="3291840" y="1018903"/>
                </a:cubicBezTo>
                <a:cubicBezTo>
                  <a:pt x="3280398" y="993477"/>
                  <a:pt x="3257848" y="974658"/>
                  <a:pt x="3239588" y="953588"/>
                </a:cubicBezTo>
                <a:cubicBezTo>
                  <a:pt x="3229506" y="941954"/>
                  <a:pt x="3218952" y="930548"/>
                  <a:pt x="3206931" y="920931"/>
                </a:cubicBezTo>
                <a:cubicBezTo>
                  <a:pt x="3169072" y="890644"/>
                  <a:pt x="3146322" y="878034"/>
                  <a:pt x="3108960" y="855617"/>
                </a:cubicBezTo>
                <a:cubicBezTo>
                  <a:pt x="3078480" y="864326"/>
                  <a:pt x="3047795" y="872347"/>
                  <a:pt x="3017520" y="881743"/>
                </a:cubicBezTo>
                <a:cubicBezTo>
                  <a:pt x="2984643" y="891946"/>
                  <a:pt x="2952647" y="904943"/>
                  <a:pt x="2919548" y="914400"/>
                </a:cubicBezTo>
                <a:cubicBezTo>
                  <a:pt x="2891619" y="922380"/>
                  <a:pt x="2862819" y="926949"/>
                  <a:pt x="2834640" y="933994"/>
                </a:cubicBezTo>
                <a:cubicBezTo>
                  <a:pt x="2701862" y="967188"/>
                  <a:pt x="2868086" y="927842"/>
                  <a:pt x="2749731" y="960120"/>
                </a:cubicBezTo>
                <a:cubicBezTo>
                  <a:pt x="2739021" y="963041"/>
                  <a:pt x="2727960" y="964474"/>
                  <a:pt x="2717074" y="966651"/>
                </a:cubicBezTo>
                <a:cubicBezTo>
                  <a:pt x="2704011" y="975360"/>
                  <a:pt x="2691927" y="985756"/>
                  <a:pt x="2677885" y="992777"/>
                </a:cubicBezTo>
                <a:cubicBezTo>
                  <a:pt x="2660468" y="1001486"/>
                  <a:pt x="2641837" y="1008102"/>
                  <a:pt x="2625634" y="1018903"/>
                </a:cubicBezTo>
                <a:cubicBezTo>
                  <a:pt x="2605955" y="1032021"/>
                  <a:pt x="2603117" y="1035084"/>
                  <a:pt x="2579914" y="1045028"/>
                </a:cubicBezTo>
                <a:cubicBezTo>
                  <a:pt x="2573586" y="1047740"/>
                  <a:pt x="2566478" y="1048481"/>
                  <a:pt x="2560320" y="1051560"/>
                </a:cubicBezTo>
                <a:cubicBezTo>
                  <a:pt x="2553299" y="1055071"/>
                  <a:pt x="2547746" y="1061112"/>
                  <a:pt x="2540725" y="1064623"/>
                </a:cubicBezTo>
                <a:cubicBezTo>
                  <a:pt x="2530239" y="1069866"/>
                  <a:pt x="2518782" y="1072924"/>
                  <a:pt x="2508068" y="1077685"/>
                </a:cubicBezTo>
                <a:cubicBezTo>
                  <a:pt x="2499171" y="1081639"/>
                  <a:pt x="2491179" y="1087669"/>
                  <a:pt x="2481942" y="1090748"/>
                </a:cubicBezTo>
                <a:cubicBezTo>
                  <a:pt x="2471410" y="1094259"/>
                  <a:pt x="2459995" y="1094359"/>
                  <a:pt x="2449285" y="1097280"/>
                </a:cubicBezTo>
                <a:cubicBezTo>
                  <a:pt x="2368310" y="1119365"/>
                  <a:pt x="2457215" y="1105632"/>
                  <a:pt x="2344782" y="1116874"/>
                </a:cubicBezTo>
                <a:cubicBezTo>
                  <a:pt x="2316630" y="1126257"/>
                  <a:pt x="2309768" y="1129101"/>
                  <a:pt x="2272937" y="1136468"/>
                </a:cubicBezTo>
                <a:cubicBezTo>
                  <a:pt x="2262051" y="1138645"/>
                  <a:pt x="2251117" y="1140592"/>
                  <a:pt x="2240280" y="1143000"/>
                </a:cubicBezTo>
                <a:cubicBezTo>
                  <a:pt x="2157265" y="1161448"/>
                  <a:pt x="2279991" y="1136362"/>
                  <a:pt x="2181497" y="1156063"/>
                </a:cubicBezTo>
                <a:cubicBezTo>
                  <a:pt x="2172788" y="1160417"/>
                  <a:pt x="2164764" y="1166563"/>
                  <a:pt x="2155371" y="1169125"/>
                </a:cubicBezTo>
                <a:cubicBezTo>
                  <a:pt x="2089469" y="1187098"/>
                  <a:pt x="2015652" y="1163907"/>
                  <a:pt x="1952897" y="1156063"/>
                </a:cubicBezTo>
                <a:cubicBezTo>
                  <a:pt x="1908013" y="1131127"/>
                  <a:pt x="1809810" y="1078290"/>
                  <a:pt x="1783080" y="1051560"/>
                </a:cubicBezTo>
                <a:cubicBezTo>
                  <a:pt x="1755788" y="1024268"/>
                  <a:pt x="1769027" y="1039355"/>
                  <a:pt x="1743891" y="1005840"/>
                </a:cubicBezTo>
                <a:cubicBezTo>
                  <a:pt x="1731200" y="967766"/>
                  <a:pt x="1720506" y="923373"/>
                  <a:pt x="1698171" y="888274"/>
                </a:cubicBezTo>
                <a:cubicBezTo>
                  <a:pt x="1690687" y="876513"/>
                  <a:pt x="1680244" y="866891"/>
                  <a:pt x="1672045" y="855617"/>
                </a:cubicBezTo>
                <a:cubicBezTo>
                  <a:pt x="1662811" y="842920"/>
                  <a:pt x="1655340" y="828988"/>
                  <a:pt x="1645920" y="816428"/>
                </a:cubicBezTo>
                <a:cubicBezTo>
                  <a:pt x="1629191" y="794123"/>
                  <a:pt x="1608013" y="775022"/>
                  <a:pt x="1593668" y="751114"/>
                </a:cubicBezTo>
                <a:cubicBezTo>
                  <a:pt x="1587137" y="740228"/>
                  <a:pt x="1581691" y="728613"/>
                  <a:pt x="1574074" y="718457"/>
                </a:cubicBezTo>
                <a:cubicBezTo>
                  <a:pt x="1552403" y="689562"/>
                  <a:pt x="1556651" y="709735"/>
                  <a:pt x="1541417" y="679268"/>
                </a:cubicBezTo>
                <a:cubicBezTo>
                  <a:pt x="1538338" y="673110"/>
                  <a:pt x="1538354" y="665621"/>
                  <a:pt x="1534885" y="659674"/>
                </a:cubicBezTo>
                <a:cubicBezTo>
                  <a:pt x="1523019" y="639333"/>
                  <a:pt x="1503144" y="623232"/>
                  <a:pt x="1495697" y="600891"/>
                </a:cubicBezTo>
                <a:lnTo>
                  <a:pt x="1482634" y="561703"/>
                </a:lnTo>
                <a:cubicBezTo>
                  <a:pt x="1480457" y="555171"/>
                  <a:pt x="1478659" y="548501"/>
                  <a:pt x="1476102" y="542108"/>
                </a:cubicBezTo>
                <a:cubicBezTo>
                  <a:pt x="1460483" y="503059"/>
                  <a:pt x="1494608" y="514894"/>
                  <a:pt x="1476102" y="476794"/>
                </a:cubicBezTo>
                <a:close/>
              </a:path>
            </a:pathLst>
          </a:custGeom>
          <a:solidFill>
            <a:srgbClr val="00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015689-09CF-31E1-718D-E5B0F3F92342}"/>
              </a:ext>
            </a:extLst>
          </p:cNvPr>
          <p:cNvSpPr txBox="1">
            <a:spLocks/>
          </p:cNvSpPr>
          <p:nvPr/>
        </p:nvSpPr>
        <p:spPr>
          <a:xfrm>
            <a:off x="192841" y="9976"/>
            <a:ext cx="7917887" cy="69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baseline="0">
                <a:solidFill>
                  <a:srgbClr val="036EB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CA" sz="2500" dirty="0"/>
              <a:t>3D Interpolation of Petroleum Hydrocarbons (PHC)</a:t>
            </a:r>
          </a:p>
        </p:txBody>
      </p:sp>
    </p:spTree>
    <p:extLst>
      <p:ext uri="{BB962C8B-B14F-4D97-AF65-F5344CB8AC3E}">
        <p14:creationId xmlns:p14="http://schemas.microsoft.com/office/powerpoint/2010/main" val="1751468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6AE9B-4A87-B202-D9DB-2B785F77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9EE3-57C8-014F-29DE-424357C5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160142"/>
            <a:ext cx="8234612" cy="695909"/>
          </a:xfrm>
        </p:spPr>
        <p:txBody>
          <a:bodyPr/>
          <a:lstStyle/>
          <a:p>
            <a:r>
              <a:rPr lang="en-CA" dirty="0"/>
              <a:t>1D Interpolation with Depth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6FCAC-9D71-438C-93C0-BEEF66930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255" y="955137"/>
            <a:ext cx="3247089" cy="3635825"/>
          </a:xfrm>
          <a:prstGeom prst="roundRect">
            <a:avLst>
              <a:gd name="adj" fmla="val 26926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C1529B-8ED7-7B6F-25AB-AA4C7F5E8E10}"/>
              </a:ext>
            </a:extLst>
          </p:cNvPr>
          <p:cNvSpPr/>
          <p:nvPr/>
        </p:nvSpPr>
        <p:spPr>
          <a:xfrm>
            <a:off x="3400082" y="2689411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1.5 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0BEAB7-21DC-74AF-AD76-BB5D00D2241F}"/>
              </a:ext>
            </a:extLst>
          </p:cNvPr>
          <p:cNvSpPr/>
          <p:nvPr/>
        </p:nvSpPr>
        <p:spPr>
          <a:xfrm>
            <a:off x="3400082" y="3372799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2.5 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493F54F-D106-9401-8BEE-502C25716446}"/>
              </a:ext>
            </a:extLst>
          </p:cNvPr>
          <p:cNvSpPr/>
          <p:nvPr/>
        </p:nvSpPr>
        <p:spPr>
          <a:xfrm>
            <a:off x="3400082" y="3996633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3.5 m</a:t>
            </a:r>
          </a:p>
        </p:txBody>
      </p:sp>
    </p:spTree>
    <p:extLst>
      <p:ext uri="{BB962C8B-B14F-4D97-AF65-F5344CB8AC3E}">
        <p14:creationId xmlns:p14="http://schemas.microsoft.com/office/powerpoint/2010/main" val="260316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4567-044C-1F44-2E86-B6BA71A0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5D5716-F533-1D9B-EEB1-FB1862627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5" y="1287129"/>
            <a:ext cx="2773747" cy="3577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0D2DE-3788-E762-66A5-99CD0AB4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160142"/>
            <a:ext cx="8234612" cy="695909"/>
          </a:xfrm>
        </p:spPr>
        <p:txBody>
          <a:bodyPr/>
          <a:lstStyle/>
          <a:p>
            <a:r>
              <a:rPr lang="en-CA" dirty="0"/>
              <a:t>1D Interpolation (Depth)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9A32B1-57C1-35A1-803D-C4BF70745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548" y="955137"/>
            <a:ext cx="3247089" cy="3635825"/>
          </a:xfrm>
          <a:prstGeom prst="roundRect">
            <a:avLst>
              <a:gd name="adj" fmla="val 26926"/>
            </a:avLst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CF7EA5-E53F-663C-238A-14A5E5593A3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1835228" y="1964403"/>
            <a:ext cx="1843147" cy="874233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AE20C8-0B13-3A4F-0A1F-CC477AEF68A3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1835228" y="2902279"/>
            <a:ext cx="1843147" cy="619745"/>
          </a:xfrm>
          <a:prstGeom prst="straightConnector1">
            <a:avLst/>
          </a:prstGeom>
          <a:ln>
            <a:solidFill>
              <a:srgbClr val="FF8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2BC2720-3217-4E2B-131C-0EDFF3A8ADFB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835228" y="4145858"/>
            <a:ext cx="1843147" cy="0"/>
          </a:xfrm>
          <a:prstGeom prst="straightConnector1">
            <a:avLst/>
          </a:prstGeom>
          <a:ln>
            <a:solidFill>
              <a:srgbClr val="008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767FB0A-5FDA-D325-5FB5-24331119F11A}"/>
              </a:ext>
            </a:extLst>
          </p:cNvPr>
          <p:cNvSpPr/>
          <p:nvPr/>
        </p:nvSpPr>
        <p:spPr>
          <a:xfrm>
            <a:off x="855617" y="856051"/>
            <a:ext cx="1058092" cy="371747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00" b="1" dirty="0"/>
              <a:t>Given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3DB79A-4124-CBAC-0225-735358785E44}"/>
              </a:ext>
            </a:extLst>
          </p:cNvPr>
          <p:cNvSpPr/>
          <p:nvPr/>
        </p:nvSpPr>
        <p:spPr>
          <a:xfrm>
            <a:off x="3678375" y="2689411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1.5 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951CC4-6D63-4F63-5B8B-CB44CDE499E9}"/>
              </a:ext>
            </a:extLst>
          </p:cNvPr>
          <p:cNvSpPr/>
          <p:nvPr/>
        </p:nvSpPr>
        <p:spPr>
          <a:xfrm>
            <a:off x="3678375" y="3372799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2.5 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B2EA02-04C1-A0A3-46C8-6E7B0C78D73D}"/>
              </a:ext>
            </a:extLst>
          </p:cNvPr>
          <p:cNvSpPr/>
          <p:nvPr/>
        </p:nvSpPr>
        <p:spPr>
          <a:xfrm>
            <a:off x="3678375" y="3996633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3.5 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529634-A2DF-0ED4-2CFF-271FCC9CD999}"/>
              </a:ext>
            </a:extLst>
          </p:cNvPr>
          <p:cNvSpPr/>
          <p:nvPr/>
        </p:nvSpPr>
        <p:spPr>
          <a:xfrm>
            <a:off x="4244341" y="2454088"/>
            <a:ext cx="487874" cy="70059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70E64A-2E3F-871A-652D-98CDD02FB345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4732215" y="2427670"/>
            <a:ext cx="2072445" cy="3767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BB85866-1B36-C568-1AE7-16A54BD93116}"/>
              </a:ext>
            </a:extLst>
          </p:cNvPr>
          <p:cNvSpPr txBox="1">
            <a:spLocks/>
          </p:cNvSpPr>
          <p:nvPr/>
        </p:nvSpPr>
        <p:spPr>
          <a:xfrm>
            <a:off x="6749601" y="1952341"/>
            <a:ext cx="2217798" cy="11718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CA" sz="1800" b="1" dirty="0">
                <a:solidFill>
                  <a:schemeClr val="tx1"/>
                </a:solidFill>
              </a:rPr>
              <a:t>Sensors measure concentration (%) of PHC in the surrounding air</a:t>
            </a:r>
          </a:p>
        </p:txBody>
      </p:sp>
    </p:spTree>
    <p:extLst>
      <p:ext uri="{BB962C8B-B14F-4D97-AF65-F5344CB8AC3E}">
        <p14:creationId xmlns:p14="http://schemas.microsoft.com/office/powerpoint/2010/main" val="1569418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D2C74-16AE-4840-F7F7-676E7827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8A8405-B9C3-4D15-29BC-38C250E5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" y="1287129"/>
            <a:ext cx="2773747" cy="3577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3F4885-57AE-F9F4-DB5A-938A95E15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548" y="955137"/>
            <a:ext cx="3247089" cy="3635825"/>
          </a:xfrm>
          <a:prstGeom prst="roundRect">
            <a:avLst>
              <a:gd name="adj" fmla="val 26926"/>
            </a:avLst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E230E5-7AA5-1F13-A433-9A8866017449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1835228" y="1964403"/>
            <a:ext cx="1843147" cy="874233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47636A-0BF1-8B5C-2B30-C9E176DEA1AE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835228" y="2902279"/>
            <a:ext cx="1843147" cy="619745"/>
          </a:xfrm>
          <a:prstGeom prst="straightConnector1">
            <a:avLst/>
          </a:prstGeom>
          <a:ln>
            <a:solidFill>
              <a:srgbClr val="FF85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D7776D-B2F6-B211-DE9F-177ABA205581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835228" y="4145858"/>
            <a:ext cx="1843147" cy="0"/>
          </a:xfrm>
          <a:prstGeom prst="straightConnector1">
            <a:avLst/>
          </a:prstGeom>
          <a:ln>
            <a:solidFill>
              <a:srgbClr val="008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EFDD6E-5E4C-EDA5-E24F-42C7BD0B79B5}"/>
              </a:ext>
            </a:extLst>
          </p:cNvPr>
          <p:cNvSpPr/>
          <p:nvPr/>
        </p:nvSpPr>
        <p:spPr>
          <a:xfrm>
            <a:off x="855617" y="856051"/>
            <a:ext cx="1058092" cy="371747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00" b="1" dirty="0"/>
              <a:t>Given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DBB734-3C32-D164-E00C-330CF8C90509}"/>
              </a:ext>
            </a:extLst>
          </p:cNvPr>
          <p:cNvSpPr/>
          <p:nvPr/>
        </p:nvSpPr>
        <p:spPr>
          <a:xfrm>
            <a:off x="3678375" y="2689411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1.5 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F92349D-6935-9778-28CF-71C56D74F516}"/>
              </a:ext>
            </a:extLst>
          </p:cNvPr>
          <p:cNvSpPr/>
          <p:nvPr/>
        </p:nvSpPr>
        <p:spPr>
          <a:xfrm>
            <a:off x="3678375" y="3372799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2.5 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B17F5B-63D4-3270-124B-30F780522B6C}"/>
              </a:ext>
            </a:extLst>
          </p:cNvPr>
          <p:cNvSpPr/>
          <p:nvPr/>
        </p:nvSpPr>
        <p:spPr>
          <a:xfrm>
            <a:off x="3678375" y="3996633"/>
            <a:ext cx="673100" cy="29845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3.5 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5B8DB-A438-84C5-7C25-3A3AE804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160142"/>
            <a:ext cx="8234612" cy="695909"/>
          </a:xfrm>
        </p:spPr>
        <p:txBody>
          <a:bodyPr/>
          <a:lstStyle/>
          <a:p>
            <a:r>
              <a:rPr lang="en-CA" dirty="0"/>
              <a:t>1D Interpolation (Depth)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EFB7B18-FAA5-18BA-65A2-5713064E0BFA}"/>
              </a:ext>
            </a:extLst>
          </p:cNvPr>
          <p:cNvSpPr/>
          <p:nvPr/>
        </p:nvSpPr>
        <p:spPr>
          <a:xfrm>
            <a:off x="855617" y="856051"/>
            <a:ext cx="1058092" cy="371747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00" b="1" dirty="0"/>
              <a:t>Given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3D5D2B-97C8-93B7-3818-3EE272A88ADD}"/>
              </a:ext>
            </a:extLst>
          </p:cNvPr>
          <p:cNvSpPr/>
          <p:nvPr/>
        </p:nvSpPr>
        <p:spPr>
          <a:xfrm>
            <a:off x="6971211" y="856051"/>
            <a:ext cx="1058092" cy="371747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00" b="1" dirty="0"/>
              <a:t>Find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ED56D5-024E-DDF5-CB7E-ACC4EBAEC17A}"/>
              </a:ext>
            </a:extLst>
          </p:cNvPr>
          <p:cNvSpPr/>
          <p:nvPr/>
        </p:nvSpPr>
        <p:spPr>
          <a:xfrm>
            <a:off x="3844571" y="2985806"/>
            <a:ext cx="252936" cy="38140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56A742E-F92D-8E6D-BD2C-E0CC83D714DE}"/>
              </a:ext>
            </a:extLst>
          </p:cNvPr>
          <p:cNvSpPr txBox="1">
            <a:spLocks/>
          </p:cNvSpPr>
          <p:nvPr/>
        </p:nvSpPr>
        <p:spPr>
          <a:xfrm>
            <a:off x="6316895" y="2404234"/>
            <a:ext cx="2773746" cy="35950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CA" sz="1800" b="1" dirty="0">
                <a:solidFill>
                  <a:schemeClr val="tx1"/>
                </a:solidFill>
              </a:rPr>
              <a:t>The PHC concentration (%) at all un-measured depths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F8AF1D1-D762-CF30-F56E-F173E5B5400A}"/>
              </a:ext>
            </a:extLst>
          </p:cNvPr>
          <p:cNvSpPr/>
          <p:nvPr/>
        </p:nvSpPr>
        <p:spPr>
          <a:xfrm>
            <a:off x="3842360" y="2308002"/>
            <a:ext cx="252936" cy="38140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B0C33B-C31B-3B60-B1D7-4960606FEE3C}"/>
              </a:ext>
            </a:extLst>
          </p:cNvPr>
          <p:cNvSpPr/>
          <p:nvPr/>
        </p:nvSpPr>
        <p:spPr>
          <a:xfrm>
            <a:off x="3844571" y="4293503"/>
            <a:ext cx="252936" cy="38140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FB2F745-7366-3ECA-5096-6131EAEA6CA6}"/>
              </a:ext>
            </a:extLst>
          </p:cNvPr>
          <p:cNvSpPr/>
          <p:nvPr/>
        </p:nvSpPr>
        <p:spPr>
          <a:xfrm>
            <a:off x="3845650" y="3657911"/>
            <a:ext cx="252936" cy="38140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BA4917-FC36-D4D2-6EAA-EB7B1905341A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095296" y="2498707"/>
            <a:ext cx="2286480" cy="145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4A7B3C7-F74A-44CC-40A8-EFE9E4464E19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097507" y="2703957"/>
            <a:ext cx="2257573" cy="472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32E2117-8E40-B9B1-C5AD-B85B585301F4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4098586" y="2894661"/>
            <a:ext cx="2283190" cy="9539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800FDC-2A92-9AE9-BF77-3FF2D3962FC6}"/>
              </a:ext>
            </a:extLst>
          </p:cNvPr>
          <p:cNvCxnSpPr>
            <a:cxnSpLocks/>
          </p:cNvCxnSpPr>
          <p:nvPr/>
        </p:nvCxnSpPr>
        <p:spPr>
          <a:xfrm flipV="1">
            <a:off x="4098586" y="2985806"/>
            <a:ext cx="2535183" cy="1498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714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2236-020F-F506-DAE4-D9081B5F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Spatial Interpolation Methods</a:t>
            </a:r>
          </a:p>
        </p:txBody>
      </p:sp>
    </p:spTree>
    <p:extLst>
      <p:ext uri="{BB962C8B-B14F-4D97-AF65-F5344CB8AC3E}">
        <p14:creationId xmlns:p14="http://schemas.microsoft.com/office/powerpoint/2010/main" val="923405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BDF98-F85C-4671-A42D-44E61A2D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DAD3-C59A-6EC6-413C-AF206813F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Spatial Interpolation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C323E-9C14-C643-0BEC-0C8EEECD5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384" y="1737983"/>
            <a:ext cx="3867150" cy="2285377"/>
          </a:xfrm>
          <a:ln>
            <a:solidFill>
              <a:srgbClr val="002958"/>
            </a:solidFill>
          </a:ln>
        </p:spPr>
        <p:txBody>
          <a:bodyPr>
            <a:normAutofit/>
          </a:bodyPr>
          <a:lstStyle/>
          <a:p>
            <a:endParaRPr lang="en-CA" dirty="0"/>
          </a:p>
          <a:p>
            <a:r>
              <a:rPr lang="en-CA" dirty="0"/>
              <a:t>Inverse Distance Weighting </a:t>
            </a:r>
          </a:p>
          <a:p>
            <a:r>
              <a:rPr lang="en-CA" dirty="0"/>
              <a:t>Kriging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BC7A12-8A08-CBA5-B897-1AF251A2729D}"/>
              </a:ext>
            </a:extLst>
          </p:cNvPr>
          <p:cNvSpPr/>
          <p:nvPr/>
        </p:nvSpPr>
        <p:spPr>
          <a:xfrm>
            <a:off x="1159439" y="1433093"/>
            <a:ext cx="2275041" cy="597326"/>
          </a:xfrm>
          <a:prstGeom prst="roundRect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00" b="1" dirty="0"/>
              <a:t>Distance-Based</a:t>
            </a:r>
          </a:p>
        </p:txBody>
      </p:sp>
    </p:spTree>
    <p:extLst>
      <p:ext uri="{BB962C8B-B14F-4D97-AF65-F5344CB8AC3E}">
        <p14:creationId xmlns:p14="http://schemas.microsoft.com/office/powerpoint/2010/main" val="2983275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0847B-3C22-ED7F-D247-8097638E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AE85644-AD4B-B233-0EC5-58C96902C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8541" y="1737983"/>
            <a:ext cx="3957952" cy="2285377"/>
          </a:xfrm>
          <a:ln>
            <a:solidFill>
              <a:srgbClr val="002958"/>
            </a:solidFill>
          </a:ln>
        </p:spPr>
        <p:txBody>
          <a:bodyPr>
            <a:normAutofit/>
          </a:bodyPr>
          <a:lstStyle/>
          <a:p>
            <a:endParaRPr lang="en-CA" dirty="0"/>
          </a:p>
          <a:p>
            <a:r>
              <a:rPr lang="en-CA" dirty="0"/>
              <a:t>4D-Var</a:t>
            </a:r>
          </a:p>
          <a:p>
            <a:r>
              <a:rPr lang="en-CA" dirty="0"/>
              <a:t>Gauss-Levenberg-</a:t>
            </a:r>
            <a:r>
              <a:rPr lang="en-CA" dirty="0" err="1"/>
              <a:t>Marquadt</a:t>
            </a:r>
            <a:endParaRPr lang="en-CA" dirty="0"/>
          </a:p>
          <a:p>
            <a:r>
              <a:rPr lang="en-CA" dirty="0"/>
              <a:t>Iterative Ensemble Smoother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E695E-3F98-8C34-1378-9BB9B646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Spatial Interpolation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9D1C0-2738-8A69-3E58-F0EC4909D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384" y="1737983"/>
            <a:ext cx="3867150" cy="2285377"/>
          </a:xfrm>
          <a:ln>
            <a:solidFill>
              <a:srgbClr val="002958"/>
            </a:solidFill>
          </a:ln>
        </p:spPr>
        <p:txBody>
          <a:bodyPr>
            <a:normAutofit/>
          </a:bodyPr>
          <a:lstStyle/>
          <a:p>
            <a:endParaRPr lang="en-CA" dirty="0"/>
          </a:p>
          <a:p>
            <a:r>
              <a:rPr lang="en-CA" dirty="0"/>
              <a:t>Inverse Distance Weighting </a:t>
            </a:r>
          </a:p>
          <a:p>
            <a:r>
              <a:rPr lang="en-CA" dirty="0"/>
              <a:t>Kriging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0C8429-DFB3-4ADD-4B40-C795C742211F}"/>
              </a:ext>
            </a:extLst>
          </p:cNvPr>
          <p:cNvSpPr/>
          <p:nvPr/>
        </p:nvSpPr>
        <p:spPr>
          <a:xfrm>
            <a:off x="1159439" y="1433093"/>
            <a:ext cx="2275041" cy="597326"/>
          </a:xfrm>
          <a:prstGeom prst="roundRect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00" b="1" dirty="0"/>
              <a:t>Distance-Based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876495-4268-2789-0223-D64B20980B48}"/>
              </a:ext>
            </a:extLst>
          </p:cNvPr>
          <p:cNvSpPr/>
          <p:nvPr/>
        </p:nvSpPr>
        <p:spPr>
          <a:xfrm>
            <a:off x="5754923" y="1433093"/>
            <a:ext cx="2325188" cy="597326"/>
          </a:xfrm>
          <a:prstGeom prst="roundRect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00" b="1" dirty="0"/>
              <a:t>Parameter Estimation</a:t>
            </a:r>
          </a:p>
        </p:txBody>
      </p:sp>
    </p:spTree>
    <p:extLst>
      <p:ext uri="{BB962C8B-B14F-4D97-AF65-F5344CB8AC3E}">
        <p14:creationId xmlns:p14="http://schemas.microsoft.com/office/powerpoint/2010/main" val="4075589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76EA-05D4-5F92-5163-4A504364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E5B6-E715-D9F0-23D9-C3A112CF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7" y="89638"/>
            <a:ext cx="8234612" cy="695909"/>
          </a:xfrm>
        </p:spPr>
        <p:txBody>
          <a:bodyPr/>
          <a:lstStyle/>
          <a:p>
            <a:r>
              <a:rPr lang="en-CA" dirty="0"/>
              <a:t>Inverse Distance Weighting (IDW)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DE78B-A64B-B768-A8B9-B968CC01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25" y="710286"/>
            <a:ext cx="3151613" cy="4064375"/>
          </a:xfrm>
          <a:prstGeom prst="rect">
            <a:avLst/>
          </a:prstGeom>
        </p:spPr>
      </p:pic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926CA11D-DC71-214C-B769-AD3086875842}"/>
              </a:ext>
            </a:extLst>
          </p:cNvPr>
          <p:cNvSpPr/>
          <p:nvPr/>
        </p:nvSpPr>
        <p:spPr>
          <a:xfrm>
            <a:off x="3381536" y="86966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79F483A-E2B8-4D48-36AB-D843AA4EBEF0}"/>
              </a:ext>
            </a:extLst>
          </p:cNvPr>
          <p:cNvSpPr/>
          <p:nvPr/>
        </p:nvSpPr>
        <p:spPr>
          <a:xfrm>
            <a:off x="3349366" y="305660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339FDC4-4B6B-820F-37D1-AED923FD75F1}"/>
              </a:ext>
            </a:extLst>
          </p:cNvPr>
          <p:cNvSpPr/>
          <p:nvPr/>
        </p:nvSpPr>
        <p:spPr>
          <a:xfrm>
            <a:off x="3381536" y="4260115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277683-22D8-9E11-BD99-20463EEBE301}"/>
                  </a:ext>
                </a:extLst>
              </p:cNvPr>
              <p:cNvSpPr txBox="1"/>
              <p:nvPr/>
            </p:nvSpPr>
            <p:spPr>
              <a:xfrm>
                <a:off x="3566106" y="2319643"/>
                <a:ext cx="5698173" cy="1075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sup>
                              </m:sSubSup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 ⋅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277683-22D8-9E11-BD99-20463EEB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106" y="2319643"/>
                <a:ext cx="5698173" cy="10750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509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0708-4209-85B4-8397-57015F52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EA3CDAC3-98EA-BB31-264F-A885FF89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849" y="692780"/>
            <a:ext cx="2347744" cy="41085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4AFA35-C552-3CEB-4D56-532BBC95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7" y="89638"/>
            <a:ext cx="8234612" cy="695909"/>
          </a:xfrm>
        </p:spPr>
        <p:txBody>
          <a:bodyPr/>
          <a:lstStyle/>
          <a:p>
            <a:r>
              <a:rPr lang="en-CA" dirty="0"/>
              <a:t>Inverse Distance Weighting (IDW)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ECB6E-3177-CB0E-42E7-D63995FE9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45" y="710286"/>
            <a:ext cx="3151613" cy="4064375"/>
          </a:xfrm>
          <a:prstGeom prst="rect">
            <a:avLst/>
          </a:prstGeom>
        </p:spPr>
      </p:pic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313D0813-F1CB-045A-B96C-7DBC20C14579}"/>
              </a:ext>
            </a:extLst>
          </p:cNvPr>
          <p:cNvSpPr/>
          <p:nvPr/>
        </p:nvSpPr>
        <p:spPr>
          <a:xfrm>
            <a:off x="3770156" y="86966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F219C31F-DA04-336C-ABF9-F3D242321F99}"/>
              </a:ext>
            </a:extLst>
          </p:cNvPr>
          <p:cNvSpPr/>
          <p:nvPr/>
        </p:nvSpPr>
        <p:spPr>
          <a:xfrm>
            <a:off x="3737986" y="305660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527F30E6-122A-CDDF-FD4E-9718DB12769F}"/>
              </a:ext>
            </a:extLst>
          </p:cNvPr>
          <p:cNvSpPr/>
          <p:nvPr/>
        </p:nvSpPr>
        <p:spPr>
          <a:xfrm>
            <a:off x="3770156" y="4260115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02DD9160-6D44-6183-92C2-C9967AC18632}"/>
              </a:ext>
            </a:extLst>
          </p:cNvPr>
          <p:cNvSpPr/>
          <p:nvPr/>
        </p:nvSpPr>
        <p:spPr>
          <a:xfrm>
            <a:off x="7321966" y="196149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0303334D-E225-FF28-90EB-773C6B79C360}"/>
              </a:ext>
            </a:extLst>
          </p:cNvPr>
          <p:cNvSpPr/>
          <p:nvPr/>
        </p:nvSpPr>
        <p:spPr>
          <a:xfrm>
            <a:off x="5781031" y="2784106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A5B3AEB4-39F4-4F11-5CA8-F0A3DF866C4E}"/>
              </a:ext>
            </a:extLst>
          </p:cNvPr>
          <p:cNvSpPr/>
          <p:nvPr/>
        </p:nvSpPr>
        <p:spPr>
          <a:xfrm>
            <a:off x="5739541" y="3586830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C6A6576-D551-ADB7-5816-7A6A284790EA}"/>
              </a:ext>
            </a:extLst>
          </p:cNvPr>
          <p:cNvSpPr/>
          <p:nvPr/>
        </p:nvSpPr>
        <p:spPr>
          <a:xfrm>
            <a:off x="4206240" y="2293087"/>
            <a:ext cx="937104" cy="656304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2834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B4E1-B41F-8D18-3B89-103E36F82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F4E215-F8EB-9364-3F33-062CAB30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333" y="694293"/>
            <a:ext cx="2347744" cy="4108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0DC262-68EB-E06E-D54D-65A59225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7" y="89638"/>
            <a:ext cx="8234612" cy="695909"/>
          </a:xfrm>
        </p:spPr>
        <p:txBody>
          <a:bodyPr/>
          <a:lstStyle/>
          <a:p>
            <a:r>
              <a:rPr lang="en-CA" dirty="0"/>
              <a:t>Inverse Distance Weighting (IDW)</a:t>
            </a: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A37421BF-D5FA-31B7-9783-FEA326593BFB}"/>
              </a:ext>
            </a:extLst>
          </p:cNvPr>
          <p:cNvSpPr/>
          <p:nvPr/>
        </p:nvSpPr>
        <p:spPr>
          <a:xfrm>
            <a:off x="6143914" y="196149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F45157B7-C4F6-C29C-0C68-E710706D99B8}"/>
              </a:ext>
            </a:extLst>
          </p:cNvPr>
          <p:cNvSpPr/>
          <p:nvPr/>
        </p:nvSpPr>
        <p:spPr>
          <a:xfrm>
            <a:off x="5706355" y="2784106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7DB1A76F-54ED-6BF0-EE21-EF0219E9E6DB}"/>
              </a:ext>
            </a:extLst>
          </p:cNvPr>
          <p:cNvSpPr/>
          <p:nvPr/>
        </p:nvSpPr>
        <p:spPr>
          <a:xfrm>
            <a:off x="5695345" y="3586830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E7A266-5AFF-4680-25D5-108DDEF7D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45" y="710286"/>
            <a:ext cx="3151613" cy="4064375"/>
          </a:xfrm>
          <a:prstGeom prst="rect">
            <a:avLst/>
          </a:prstGeom>
        </p:spPr>
      </p:pic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E52CF50B-B610-48EC-2D09-DCE0B6603074}"/>
              </a:ext>
            </a:extLst>
          </p:cNvPr>
          <p:cNvSpPr/>
          <p:nvPr/>
        </p:nvSpPr>
        <p:spPr>
          <a:xfrm>
            <a:off x="3770156" y="86966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F7B56E79-8DC7-ED5C-D27D-385F5A029CF2}"/>
              </a:ext>
            </a:extLst>
          </p:cNvPr>
          <p:cNvSpPr/>
          <p:nvPr/>
        </p:nvSpPr>
        <p:spPr>
          <a:xfrm>
            <a:off x="3737986" y="305660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00D46A8A-3671-4409-14A6-4F3C1FABA497}"/>
              </a:ext>
            </a:extLst>
          </p:cNvPr>
          <p:cNvSpPr/>
          <p:nvPr/>
        </p:nvSpPr>
        <p:spPr>
          <a:xfrm>
            <a:off x="3770156" y="4260115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F1E214F-6A48-2575-A082-18D8E604775E}"/>
              </a:ext>
            </a:extLst>
          </p:cNvPr>
          <p:cNvSpPr/>
          <p:nvPr/>
        </p:nvSpPr>
        <p:spPr>
          <a:xfrm>
            <a:off x="4206240" y="2293087"/>
            <a:ext cx="937104" cy="656304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154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9F1F-29BA-CEFC-D2C6-E83AF6DA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7D647-773C-DC35-1793-A38BBF79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7" y="89638"/>
            <a:ext cx="8234612" cy="695909"/>
          </a:xfrm>
        </p:spPr>
        <p:txBody>
          <a:bodyPr/>
          <a:lstStyle/>
          <a:p>
            <a:r>
              <a:rPr lang="en-CA" dirty="0"/>
              <a:t>Kriging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FC2F8D-EC45-4DCD-1FC3-A0AF1D1F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25" y="710286"/>
            <a:ext cx="3151613" cy="4064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EABB88-0175-EF85-F0F9-9818EBBDD4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68" t="5530" r="8659"/>
          <a:stretch>
            <a:fillRect/>
          </a:stretch>
        </p:blipFill>
        <p:spPr>
          <a:xfrm>
            <a:off x="3976249" y="1394899"/>
            <a:ext cx="3451568" cy="27704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C472D7-3BA1-26B1-AB0C-ECCB496AF045}"/>
                  </a:ext>
                </a:extLst>
              </p:cNvPr>
              <p:cNvSpPr txBox="1"/>
              <p:nvPr/>
            </p:nvSpPr>
            <p:spPr>
              <a:xfrm>
                <a:off x="4572000" y="502859"/>
                <a:ext cx="396659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C472D7-3BA1-26B1-AB0C-ECCB496AF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02859"/>
                <a:ext cx="3966599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F3F369E-AD86-E9C0-E543-7F5F881BA5AD}"/>
              </a:ext>
            </a:extLst>
          </p:cNvPr>
          <p:cNvSpPr txBox="1">
            <a:spLocks/>
          </p:cNvSpPr>
          <p:nvPr/>
        </p:nvSpPr>
        <p:spPr>
          <a:xfrm>
            <a:off x="7427817" y="1513923"/>
            <a:ext cx="1673369" cy="2844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1400" b="1" dirty="0"/>
              <a:t>Models for Fitting</a:t>
            </a:r>
          </a:p>
          <a:p>
            <a:r>
              <a:rPr lang="en-CA" sz="1400" dirty="0"/>
              <a:t>Linear</a:t>
            </a:r>
          </a:p>
          <a:p>
            <a:r>
              <a:rPr lang="en-CA" sz="1400" dirty="0"/>
              <a:t>Gaussian </a:t>
            </a:r>
          </a:p>
          <a:p>
            <a:r>
              <a:rPr lang="en-CA" sz="1400" dirty="0"/>
              <a:t>Spherical </a:t>
            </a:r>
          </a:p>
          <a:p>
            <a:r>
              <a:rPr lang="en-CA" sz="1400" dirty="0"/>
              <a:t>Exponential</a:t>
            </a:r>
          </a:p>
        </p:txBody>
      </p:sp>
    </p:spTree>
    <p:extLst>
      <p:ext uri="{BB962C8B-B14F-4D97-AF65-F5344CB8AC3E}">
        <p14:creationId xmlns:p14="http://schemas.microsoft.com/office/powerpoint/2010/main" val="4290622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9222-C75A-217C-6C9A-8A23CE69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A9B2-2E63-3F12-E5C5-6656EDC1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7" y="89638"/>
            <a:ext cx="8234612" cy="695909"/>
          </a:xfrm>
        </p:spPr>
        <p:txBody>
          <a:bodyPr/>
          <a:lstStyle/>
          <a:p>
            <a:r>
              <a:rPr lang="en-CA" dirty="0"/>
              <a:t>Kriging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06442-7C4B-440D-175B-841B0B7D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25" y="710286"/>
            <a:ext cx="3151613" cy="4064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9253E1-0564-A347-3510-D5B83EEA18F8}"/>
                  </a:ext>
                </a:extLst>
              </p:cNvPr>
              <p:cNvSpPr txBox="1"/>
              <p:nvPr/>
            </p:nvSpPr>
            <p:spPr>
              <a:xfrm>
                <a:off x="4572000" y="502859"/>
                <a:ext cx="396659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9253E1-0564-A347-3510-D5B83EEA1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02859"/>
                <a:ext cx="3966599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827991-E28F-649B-3FA8-B70E5F8E6B14}"/>
              </a:ext>
            </a:extLst>
          </p:cNvPr>
          <p:cNvSpPr txBox="1">
            <a:spLocks/>
          </p:cNvSpPr>
          <p:nvPr/>
        </p:nvSpPr>
        <p:spPr>
          <a:xfrm>
            <a:off x="7427817" y="1513923"/>
            <a:ext cx="1673369" cy="2844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sz="1400" b="1" dirty="0"/>
              <a:t>Models for Fitting</a:t>
            </a:r>
          </a:p>
          <a:p>
            <a:r>
              <a:rPr lang="en-CA" sz="1400" dirty="0"/>
              <a:t>Linear</a:t>
            </a:r>
          </a:p>
          <a:p>
            <a:r>
              <a:rPr lang="en-CA" sz="1400" dirty="0"/>
              <a:t>Gaussian </a:t>
            </a:r>
          </a:p>
          <a:p>
            <a:r>
              <a:rPr lang="en-CA" sz="1400" dirty="0"/>
              <a:t>Spherical </a:t>
            </a:r>
          </a:p>
          <a:p>
            <a:r>
              <a:rPr lang="en-CA" sz="1400" dirty="0"/>
              <a:t>Exponential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B5B41-C3D7-AE38-739B-8209185FDE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8" t="5672" r="9657" b="1780"/>
          <a:stretch>
            <a:fillRect/>
          </a:stretch>
        </p:blipFill>
        <p:spPr>
          <a:xfrm>
            <a:off x="3934513" y="1259663"/>
            <a:ext cx="3451568" cy="269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99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35CB-A69D-E321-BC75-E5E9530F2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1086FD08-9621-7ED3-22B2-C48E2A36C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626" y="688197"/>
            <a:ext cx="2347744" cy="41085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EA5153-BC01-5AC7-C36A-3611DD25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7" y="89638"/>
            <a:ext cx="8234612" cy="695909"/>
          </a:xfrm>
        </p:spPr>
        <p:txBody>
          <a:bodyPr/>
          <a:lstStyle/>
          <a:p>
            <a:r>
              <a:rPr lang="en-CA" dirty="0"/>
              <a:t>Kriging</a:t>
            </a:r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BFB4941C-6624-E745-35AB-389AA08BBBAB}"/>
              </a:ext>
            </a:extLst>
          </p:cNvPr>
          <p:cNvSpPr/>
          <p:nvPr/>
        </p:nvSpPr>
        <p:spPr>
          <a:xfrm>
            <a:off x="7292813" y="196149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18B1C5FB-9A2A-3FE5-BB15-D2876C76E679}"/>
              </a:ext>
            </a:extLst>
          </p:cNvPr>
          <p:cNvSpPr/>
          <p:nvPr/>
        </p:nvSpPr>
        <p:spPr>
          <a:xfrm>
            <a:off x="5671640" y="2784106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E30554F8-283C-6228-97A8-A4E75178D31F}"/>
              </a:ext>
            </a:extLst>
          </p:cNvPr>
          <p:cNvSpPr/>
          <p:nvPr/>
        </p:nvSpPr>
        <p:spPr>
          <a:xfrm>
            <a:off x="5672740" y="3622266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8321D1D-D1C3-C73D-5558-737A6C2F4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45" y="710286"/>
            <a:ext cx="3151613" cy="4064375"/>
          </a:xfrm>
          <a:prstGeom prst="rect">
            <a:avLst/>
          </a:prstGeom>
        </p:spPr>
      </p:pic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FE7CE86D-8333-1312-C0BB-868352D9B506}"/>
              </a:ext>
            </a:extLst>
          </p:cNvPr>
          <p:cNvSpPr/>
          <p:nvPr/>
        </p:nvSpPr>
        <p:spPr>
          <a:xfrm>
            <a:off x="3770156" y="86966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82E02C55-21A4-0B72-5E63-A085858B2DA0}"/>
              </a:ext>
            </a:extLst>
          </p:cNvPr>
          <p:cNvSpPr/>
          <p:nvPr/>
        </p:nvSpPr>
        <p:spPr>
          <a:xfrm>
            <a:off x="3737986" y="305660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BC369B56-F930-DDA3-D58D-8583D21EE3CF}"/>
              </a:ext>
            </a:extLst>
          </p:cNvPr>
          <p:cNvSpPr/>
          <p:nvPr/>
        </p:nvSpPr>
        <p:spPr>
          <a:xfrm>
            <a:off x="3770156" y="4260115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E30B6580-07E0-027E-54AD-9FF361EDAB26}"/>
              </a:ext>
            </a:extLst>
          </p:cNvPr>
          <p:cNvSpPr/>
          <p:nvPr/>
        </p:nvSpPr>
        <p:spPr>
          <a:xfrm>
            <a:off x="4206240" y="2293087"/>
            <a:ext cx="937104" cy="656304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9876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0610-2091-EEB1-7E82-B231E1D6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9803-ED15-A194-2ADA-BAD253CD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30798"/>
            <a:ext cx="8234612" cy="695909"/>
          </a:xfrm>
        </p:spPr>
        <p:txBody>
          <a:bodyPr/>
          <a:lstStyle/>
          <a:p>
            <a:r>
              <a:rPr lang="en-CA" dirty="0"/>
              <a:t>Parameter Estimation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A8437D-7C93-EA73-5DCC-62143B09E8E8}"/>
              </a:ext>
            </a:extLst>
          </p:cNvPr>
          <p:cNvSpPr/>
          <p:nvPr/>
        </p:nvSpPr>
        <p:spPr>
          <a:xfrm>
            <a:off x="335904" y="726707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Given Measurements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357077-03A4-51FB-1027-B9F664CB7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759"/>
            <a:ext cx="2395904" cy="308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39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6C34-6538-FEFC-A8D6-A2051531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A84-9341-5D30-983B-F61B879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30798"/>
            <a:ext cx="8234612" cy="695909"/>
          </a:xfrm>
        </p:spPr>
        <p:txBody>
          <a:bodyPr/>
          <a:lstStyle/>
          <a:p>
            <a:r>
              <a:rPr lang="en-CA" dirty="0"/>
              <a:t>Parameter Estimation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EB959F-6F15-F22F-E13C-2AF4FF113ACF}"/>
              </a:ext>
            </a:extLst>
          </p:cNvPr>
          <p:cNvSpPr/>
          <p:nvPr/>
        </p:nvSpPr>
        <p:spPr>
          <a:xfrm>
            <a:off x="335904" y="726707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Given Measurements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2CFF08-A3DA-9C3C-B592-D3F8AEF87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759"/>
            <a:ext cx="2395904" cy="308980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9AF8F73-6016-A0D6-2E1A-3232DA0DE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666" y="1477148"/>
            <a:ext cx="3889361" cy="29170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54A71ED-1772-6E87-907F-88AFCC3431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71"/>
          <a:stretch>
            <a:fillRect/>
          </a:stretch>
        </p:blipFill>
        <p:spPr>
          <a:xfrm>
            <a:off x="6480093" y="1465989"/>
            <a:ext cx="2682195" cy="33860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CF8842-2204-8725-E734-3C91091B8D27}"/>
              </a:ext>
            </a:extLst>
          </p:cNvPr>
          <p:cNvSpPr/>
          <p:nvPr/>
        </p:nvSpPr>
        <p:spPr>
          <a:xfrm>
            <a:off x="2930377" y="2391156"/>
            <a:ext cx="2738903" cy="66040"/>
          </a:xfrm>
          <a:prstGeom prst="rect">
            <a:avLst/>
          </a:prstGeom>
          <a:noFill/>
          <a:ln>
            <a:solidFill>
              <a:srgbClr val="649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D2D20B-D633-EDC3-B3A5-F91F23C0BE66}"/>
              </a:ext>
            </a:extLst>
          </p:cNvPr>
          <p:cNvSpPr/>
          <p:nvPr/>
        </p:nvSpPr>
        <p:spPr>
          <a:xfrm>
            <a:off x="2930377" y="2899156"/>
            <a:ext cx="2738903" cy="66040"/>
          </a:xfrm>
          <a:prstGeom prst="rect">
            <a:avLst/>
          </a:prstGeom>
          <a:noFill/>
          <a:ln>
            <a:solidFill>
              <a:srgbClr val="FFE4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761D6F-135B-B7C2-0E0A-8A74B6AE6DE9}"/>
              </a:ext>
            </a:extLst>
          </p:cNvPr>
          <p:cNvSpPr/>
          <p:nvPr/>
        </p:nvSpPr>
        <p:spPr>
          <a:xfrm>
            <a:off x="2930377" y="3427476"/>
            <a:ext cx="2738903" cy="66040"/>
          </a:xfrm>
          <a:prstGeom prst="rect">
            <a:avLst/>
          </a:prstGeom>
          <a:noFill/>
          <a:ln>
            <a:solidFill>
              <a:srgbClr val="90E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0498DB-CB6F-8CCF-9FD8-50DE3C0A6C22}"/>
              </a:ext>
            </a:extLst>
          </p:cNvPr>
          <p:cNvSpPr/>
          <p:nvPr/>
        </p:nvSpPr>
        <p:spPr>
          <a:xfrm>
            <a:off x="3368664" y="771175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Run Simulation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464B4A-5D8D-25E0-776D-90D41ECB3A1D}"/>
              </a:ext>
            </a:extLst>
          </p:cNvPr>
          <p:cNvSpPr/>
          <p:nvPr/>
        </p:nvSpPr>
        <p:spPr>
          <a:xfrm>
            <a:off x="6908869" y="784204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Evaluate &amp; Adjust</a:t>
            </a:r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4C63771A-ADD8-6AD4-E1FD-4DC8DA096471}"/>
              </a:ext>
            </a:extLst>
          </p:cNvPr>
          <p:cNvSpPr/>
          <p:nvPr/>
        </p:nvSpPr>
        <p:spPr>
          <a:xfrm>
            <a:off x="5483352" y="899854"/>
            <a:ext cx="1219200" cy="345155"/>
          </a:xfrm>
          <a:prstGeom prst="left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E4C875D2-C1CE-7A01-0DFA-A69D79BFCD8E}"/>
              </a:ext>
            </a:extLst>
          </p:cNvPr>
          <p:cNvSpPr/>
          <p:nvPr/>
        </p:nvSpPr>
        <p:spPr>
          <a:xfrm>
            <a:off x="2503657" y="851064"/>
            <a:ext cx="649546" cy="375795"/>
          </a:xfrm>
          <a:prstGeom prst="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0168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44A60-C71D-E37C-B74C-6C84F4D4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23AA67-629B-CBA4-888E-D8D3542B2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426" y="1480503"/>
            <a:ext cx="3889361" cy="2917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A12D6E-54BB-2528-499E-AF1004E3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30798"/>
            <a:ext cx="8234612" cy="695909"/>
          </a:xfrm>
        </p:spPr>
        <p:txBody>
          <a:bodyPr/>
          <a:lstStyle/>
          <a:p>
            <a:r>
              <a:rPr lang="en-CA" dirty="0"/>
              <a:t>Parameter Estimation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0038AD-DC88-5704-7EF9-A359B5300D53}"/>
              </a:ext>
            </a:extLst>
          </p:cNvPr>
          <p:cNvSpPr/>
          <p:nvPr/>
        </p:nvSpPr>
        <p:spPr>
          <a:xfrm>
            <a:off x="335904" y="726707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Given Measurements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0D70C0-CCA4-5DDE-CA35-C250698CA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759"/>
            <a:ext cx="2395904" cy="30898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7BD38A-ED39-3A16-6C0C-E85A00E86A2E}"/>
              </a:ext>
            </a:extLst>
          </p:cNvPr>
          <p:cNvSpPr/>
          <p:nvPr/>
        </p:nvSpPr>
        <p:spPr>
          <a:xfrm>
            <a:off x="2930377" y="2391156"/>
            <a:ext cx="2738903" cy="66040"/>
          </a:xfrm>
          <a:prstGeom prst="rect">
            <a:avLst/>
          </a:prstGeom>
          <a:noFill/>
          <a:ln>
            <a:solidFill>
              <a:srgbClr val="649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AB63E8-0131-B63E-412D-FA3351902EF2}"/>
              </a:ext>
            </a:extLst>
          </p:cNvPr>
          <p:cNvSpPr/>
          <p:nvPr/>
        </p:nvSpPr>
        <p:spPr>
          <a:xfrm>
            <a:off x="2930377" y="2899156"/>
            <a:ext cx="2738903" cy="66040"/>
          </a:xfrm>
          <a:prstGeom prst="rect">
            <a:avLst/>
          </a:prstGeom>
          <a:noFill/>
          <a:ln>
            <a:solidFill>
              <a:srgbClr val="FFE4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F6247-A1AE-2654-B57D-F6E44ECC4F54}"/>
              </a:ext>
            </a:extLst>
          </p:cNvPr>
          <p:cNvSpPr/>
          <p:nvPr/>
        </p:nvSpPr>
        <p:spPr>
          <a:xfrm>
            <a:off x="2930377" y="3427476"/>
            <a:ext cx="2738903" cy="66040"/>
          </a:xfrm>
          <a:prstGeom prst="rect">
            <a:avLst/>
          </a:prstGeom>
          <a:noFill/>
          <a:ln>
            <a:solidFill>
              <a:srgbClr val="90E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0A2A49-C19C-0622-A43C-56BE0883BBE1}"/>
              </a:ext>
            </a:extLst>
          </p:cNvPr>
          <p:cNvSpPr/>
          <p:nvPr/>
        </p:nvSpPr>
        <p:spPr>
          <a:xfrm>
            <a:off x="3368664" y="771175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Run Simulation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14A495-1120-CADC-F321-F76BF1B015F5}"/>
              </a:ext>
            </a:extLst>
          </p:cNvPr>
          <p:cNvSpPr/>
          <p:nvPr/>
        </p:nvSpPr>
        <p:spPr>
          <a:xfrm>
            <a:off x="6908869" y="784204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Evaluate &amp; Adjust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4A5DF9-FAD2-F20E-EB98-3663109F49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71"/>
          <a:stretch>
            <a:fillRect/>
          </a:stretch>
        </p:blipFill>
        <p:spPr>
          <a:xfrm>
            <a:off x="6482171" y="1464956"/>
            <a:ext cx="2682195" cy="3386017"/>
          </a:xfrm>
          <a:prstGeom prst="rect">
            <a:avLst/>
          </a:prstGeom>
        </p:spPr>
      </p:pic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97880338-A2B5-54D7-9603-75C4D97CC3AA}"/>
              </a:ext>
            </a:extLst>
          </p:cNvPr>
          <p:cNvSpPr/>
          <p:nvPr/>
        </p:nvSpPr>
        <p:spPr>
          <a:xfrm>
            <a:off x="5483352" y="899854"/>
            <a:ext cx="1219200" cy="345155"/>
          </a:xfrm>
          <a:prstGeom prst="left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B2B9433-52CD-8EFD-065F-E6DA63E94E0E}"/>
              </a:ext>
            </a:extLst>
          </p:cNvPr>
          <p:cNvSpPr/>
          <p:nvPr/>
        </p:nvSpPr>
        <p:spPr>
          <a:xfrm>
            <a:off x="2503657" y="851064"/>
            <a:ext cx="649546" cy="375795"/>
          </a:xfrm>
          <a:prstGeom prst="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3297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85465-57DB-CCB8-D7F4-B5236FE3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66AA45-2ACE-5416-4C1B-0331450A4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426" y="1479997"/>
            <a:ext cx="3889362" cy="2917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5215F-84CF-CFC9-07B2-CDE49E1A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30798"/>
            <a:ext cx="8234612" cy="695909"/>
          </a:xfrm>
        </p:spPr>
        <p:txBody>
          <a:bodyPr/>
          <a:lstStyle/>
          <a:p>
            <a:r>
              <a:rPr lang="en-CA" dirty="0"/>
              <a:t>Parameter Estimation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2581250-D999-A3F4-476B-37E1976E6076}"/>
              </a:ext>
            </a:extLst>
          </p:cNvPr>
          <p:cNvSpPr/>
          <p:nvPr/>
        </p:nvSpPr>
        <p:spPr>
          <a:xfrm>
            <a:off x="335904" y="726707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Given Measurements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4BD78E-A6D5-97B9-16CA-4D3F73BA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759"/>
            <a:ext cx="2395904" cy="30898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DDB251-1BA0-0A28-DD36-C5EF504E26B2}"/>
              </a:ext>
            </a:extLst>
          </p:cNvPr>
          <p:cNvSpPr/>
          <p:nvPr/>
        </p:nvSpPr>
        <p:spPr>
          <a:xfrm>
            <a:off x="2930377" y="2391156"/>
            <a:ext cx="2738903" cy="66040"/>
          </a:xfrm>
          <a:prstGeom prst="rect">
            <a:avLst/>
          </a:prstGeom>
          <a:noFill/>
          <a:ln>
            <a:solidFill>
              <a:srgbClr val="649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A8F639-6041-116C-ED55-BB3DD4D707FF}"/>
              </a:ext>
            </a:extLst>
          </p:cNvPr>
          <p:cNvSpPr/>
          <p:nvPr/>
        </p:nvSpPr>
        <p:spPr>
          <a:xfrm>
            <a:off x="2930377" y="2899156"/>
            <a:ext cx="2738903" cy="66040"/>
          </a:xfrm>
          <a:prstGeom prst="rect">
            <a:avLst/>
          </a:prstGeom>
          <a:noFill/>
          <a:ln>
            <a:solidFill>
              <a:srgbClr val="FFE4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B2E69A-DD4B-0BFC-9BC9-EC1F2950A961}"/>
              </a:ext>
            </a:extLst>
          </p:cNvPr>
          <p:cNvSpPr/>
          <p:nvPr/>
        </p:nvSpPr>
        <p:spPr>
          <a:xfrm>
            <a:off x="2930377" y="3427476"/>
            <a:ext cx="2738903" cy="66040"/>
          </a:xfrm>
          <a:prstGeom prst="rect">
            <a:avLst/>
          </a:prstGeom>
          <a:noFill/>
          <a:ln>
            <a:solidFill>
              <a:srgbClr val="90E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B91961-CBC1-988B-AD12-8C4E23662438}"/>
              </a:ext>
            </a:extLst>
          </p:cNvPr>
          <p:cNvSpPr/>
          <p:nvPr/>
        </p:nvSpPr>
        <p:spPr>
          <a:xfrm>
            <a:off x="3368664" y="771175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Run Simulation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4947BC-C13C-55F8-9446-7C02B04CCDEF}"/>
              </a:ext>
            </a:extLst>
          </p:cNvPr>
          <p:cNvSpPr/>
          <p:nvPr/>
        </p:nvSpPr>
        <p:spPr>
          <a:xfrm>
            <a:off x="6908869" y="784204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Evaluate &amp; Adjust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5630F5-97EB-2539-421F-907CC27116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22"/>
          <a:stretch>
            <a:fillRect/>
          </a:stretch>
        </p:blipFill>
        <p:spPr>
          <a:xfrm>
            <a:off x="6485802" y="1452764"/>
            <a:ext cx="2675203" cy="3386018"/>
          </a:xfrm>
          <a:prstGeom prst="rect">
            <a:avLst/>
          </a:prstGeom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0783E022-D869-DA39-91DE-8227B08460DE}"/>
              </a:ext>
            </a:extLst>
          </p:cNvPr>
          <p:cNvSpPr/>
          <p:nvPr/>
        </p:nvSpPr>
        <p:spPr>
          <a:xfrm>
            <a:off x="5483352" y="899854"/>
            <a:ext cx="1219200" cy="345155"/>
          </a:xfrm>
          <a:prstGeom prst="left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35EDCAA-DA7D-C468-B6FF-2CA2537D8B3E}"/>
              </a:ext>
            </a:extLst>
          </p:cNvPr>
          <p:cNvSpPr/>
          <p:nvPr/>
        </p:nvSpPr>
        <p:spPr>
          <a:xfrm>
            <a:off x="2503657" y="851064"/>
            <a:ext cx="649546" cy="375795"/>
          </a:xfrm>
          <a:prstGeom prst="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444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929F-F846-F8B0-891E-CD24B5A04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79788B-A07A-55E9-EAB9-32095622A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426" y="1479997"/>
            <a:ext cx="3889362" cy="2917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788CF6-CB8F-154D-F2C8-71CE0861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30798"/>
            <a:ext cx="8234612" cy="695909"/>
          </a:xfrm>
        </p:spPr>
        <p:txBody>
          <a:bodyPr/>
          <a:lstStyle/>
          <a:p>
            <a:r>
              <a:rPr lang="en-CA" dirty="0"/>
              <a:t>Parameter Estimation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48C21EB-0C8D-E40A-E38E-44E3FE22B17A}"/>
              </a:ext>
            </a:extLst>
          </p:cNvPr>
          <p:cNvSpPr/>
          <p:nvPr/>
        </p:nvSpPr>
        <p:spPr>
          <a:xfrm>
            <a:off x="335904" y="726707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Given Measurements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4F6226-A29A-8F84-5C8C-D174C024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759"/>
            <a:ext cx="2395904" cy="30898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DC14B8-27A7-AD25-8E01-7CC8F8583E62}"/>
              </a:ext>
            </a:extLst>
          </p:cNvPr>
          <p:cNvSpPr/>
          <p:nvPr/>
        </p:nvSpPr>
        <p:spPr>
          <a:xfrm rot="5400000">
            <a:off x="4509055" y="2822890"/>
            <a:ext cx="2263787" cy="66040"/>
          </a:xfrm>
          <a:prstGeom prst="rect">
            <a:avLst/>
          </a:prstGeom>
          <a:noFill/>
          <a:ln>
            <a:solidFill>
              <a:srgbClr val="1675D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F1C896-3A98-898F-C0C8-87250736E6FB}"/>
              </a:ext>
            </a:extLst>
          </p:cNvPr>
          <p:cNvSpPr/>
          <p:nvPr/>
        </p:nvSpPr>
        <p:spPr>
          <a:xfrm>
            <a:off x="3368664" y="771175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Run Simulation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C48FD0-6489-E355-4066-CC8A7D4FB467}"/>
              </a:ext>
            </a:extLst>
          </p:cNvPr>
          <p:cNvSpPr/>
          <p:nvPr/>
        </p:nvSpPr>
        <p:spPr>
          <a:xfrm>
            <a:off x="6908869" y="784204"/>
            <a:ext cx="1899227" cy="581616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Get Spatial Estimate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B49AAC0-B16B-1D03-13C9-A05384C8F465}"/>
              </a:ext>
            </a:extLst>
          </p:cNvPr>
          <p:cNvSpPr/>
          <p:nvPr/>
        </p:nvSpPr>
        <p:spPr>
          <a:xfrm>
            <a:off x="2503657" y="851064"/>
            <a:ext cx="649546" cy="375795"/>
          </a:xfrm>
          <a:prstGeom prst="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6B383CA-7C40-D858-1EDF-FEA0A850DED5}"/>
              </a:ext>
            </a:extLst>
          </p:cNvPr>
          <p:cNvSpPr/>
          <p:nvPr/>
        </p:nvSpPr>
        <p:spPr>
          <a:xfrm>
            <a:off x="5808242" y="870835"/>
            <a:ext cx="649546" cy="375795"/>
          </a:xfrm>
          <a:prstGeom prst="rightArrow">
            <a:avLst/>
          </a:prstGeom>
          <a:solidFill>
            <a:srgbClr val="0029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243954-20E7-EED9-E0EF-A73AEF4EE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69" y="1423317"/>
            <a:ext cx="1800727" cy="315127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4882CF-5544-141F-5A88-88C68B242AA4}"/>
              </a:ext>
            </a:extLst>
          </p:cNvPr>
          <p:cNvCxnSpPr>
            <a:cxnSpLocks/>
          </p:cNvCxnSpPr>
          <p:nvPr/>
        </p:nvCxnSpPr>
        <p:spPr>
          <a:xfrm>
            <a:off x="5673969" y="3987804"/>
            <a:ext cx="1585351" cy="248916"/>
          </a:xfrm>
          <a:prstGeom prst="straightConnector1">
            <a:avLst/>
          </a:prstGeom>
          <a:ln>
            <a:solidFill>
              <a:srgbClr val="1675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859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C30C7-2333-7AA2-DD9A-C86987EC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A740-1CBA-D84C-89ED-F45B375C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30798"/>
            <a:ext cx="8234612" cy="695909"/>
          </a:xfrm>
        </p:spPr>
        <p:txBody>
          <a:bodyPr/>
          <a:lstStyle/>
          <a:p>
            <a:r>
              <a:rPr lang="en-CA" dirty="0"/>
              <a:t>Soil Simulation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4F9113-2AA8-425D-CD55-03224212426E}"/>
              </a:ext>
            </a:extLst>
          </p:cNvPr>
          <p:cNvGrpSpPr/>
          <p:nvPr/>
        </p:nvGrpSpPr>
        <p:grpSpPr>
          <a:xfrm>
            <a:off x="0" y="3257293"/>
            <a:ext cx="9144000" cy="1891828"/>
            <a:chOff x="37475" y="1605086"/>
            <a:chExt cx="9144000" cy="18918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FE302B-E2D7-A806-231E-9947F9B6A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522"/>
            <a:stretch>
              <a:fillRect/>
            </a:stretch>
          </p:blipFill>
          <p:spPr>
            <a:xfrm>
              <a:off x="37475" y="1605086"/>
              <a:ext cx="9144000" cy="189182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EC3709-80F6-F1E2-5676-25EC19923AFB}"/>
                </a:ext>
              </a:extLst>
            </p:cNvPr>
            <p:cNvSpPr/>
            <p:nvPr/>
          </p:nvSpPr>
          <p:spPr>
            <a:xfrm>
              <a:off x="1971206" y="2061148"/>
              <a:ext cx="596110" cy="138750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B639F6E-4975-60E7-F2B2-0699F9CCACDD}"/>
              </a:ext>
            </a:extLst>
          </p:cNvPr>
          <p:cNvSpPr/>
          <p:nvPr/>
        </p:nvSpPr>
        <p:spPr>
          <a:xfrm>
            <a:off x="7169628" y="3713355"/>
            <a:ext cx="1933731" cy="13875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9B8A1-85B0-493C-3764-AC3F5EE8F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825" y="193391"/>
            <a:ext cx="4514175" cy="33856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1E0DE886-0299-0A32-3315-3BEA65E76EA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96041" y="1182769"/>
                <a:ext cx="3740882" cy="1751075"/>
              </a:xfrm>
            </p:spPr>
            <p:txBody>
              <a:bodyPr/>
              <a:lstStyle/>
              <a:p>
                <a:r>
                  <a:rPr lang="en-CA" dirty="0"/>
                  <a:t>Simulated Depth 4.5 m</a:t>
                </a:r>
              </a:p>
              <a:p>
                <a:r>
                  <a:rPr lang="en-CA" dirty="0"/>
                  <a:t>Cell depth size 0.1 m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r>
                  <a:rPr lang="en-CA" dirty="0"/>
                  <a:t>Time step size 1 hour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1E0DE886-0299-0A32-3315-3BEA65E76E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96041" y="1182769"/>
                <a:ext cx="3740882" cy="1751075"/>
              </a:xfrm>
              <a:blipFill>
                <a:blip r:embed="rId4"/>
                <a:stretch>
                  <a:fillRect l="-2280" t="-487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39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FAB4-989B-EC1A-3307-1006EEDD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354C-5020-110B-6A06-CC7E71C6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30798"/>
            <a:ext cx="8234612" cy="695909"/>
          </a:xfrm>
        </p:spPr>
        <p:txBody>
          <a:bodyPr/>
          <a:lstStyle/>
          <a:p>
            <a:r>
              <a:rPr lang="en-CA" dirty="0"/>
              <a:t>Parameter Estimation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C44C2-3E91-0C9A-6A38-A87A7D09EAD4}"/>
              </a:ext>
            </a:extLst>
          </p:cNvPr>
          <p:cNvSpPr/>
          <p:nvPr/>
        </p:nvSpPr>
        <p:spPr>
          <a:xfrm>
            <a:off x="2511804" y="2000817"/>
            <a:ext cx="4120392" cy="22356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9">
                <a:extLst>
                  <a:ext uri="{FF2B5EF4-FFF2-40B4-BE49-F238E27FC236}">
                    <a16:creationId xmlns:a16="http://schemas.microsoft.com/office/drawing/2014/main" id="{FEB3F3AD-5242-F0DA-BFE6-188FBEDE75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0250" y="1447326"/>
                <a:ext cx="4443500" cy="1387931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36EB3"/>
                  </a:buClr>
                  <a:buFont typeface="Arial" panose="020B0604020202020204" pitchFamily="34" charset="0"/>
                  <a:buChar char="•"/>
                  <a:defRPr sz="24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36EB3"/>
                  </a:buClr>
                  <a:buFont typeface="Arial" panose="020B0604020202020204" pitchFamily="34" charset="0"/>
                  <a:buChar char="•"/>
                  <a:defRPr sz="20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CA" b="1" dirty="0"/>
                  <a:t>Adjustable Parameter Vector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b="1" dirty="0"/>
              </a:p>
            </p:txBody>
          </p:sp>
        </mc:Choice>
        <mc:Fallback>
          <p:sp>
            <p:nvSpPr>
              <p:cNvPr id="18" name="Content Placeholder 9">
                <a:extLst>
                  <a:ext uri="{FF2B5EF4-FFF2-40B4-BE49-F238E27FC236}">
                    <a16:creationId xmlns:a16="http://schemas.microsoft.com/office/drawing/2014/main" id="{FEB3F3AD-5242-F0DA-BFE6-188FBEDE7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250" y="1447326"/>
                <a:ext cx="4443500" cy="1387931"/>
              </a:xfrm>
              <a:prstGeom prst="rect">
                <a:avLst/>
              </a:prstGeom>
              <a:blipFill>
                <a:blip r:embed="rId2"/>
                <a:stretch>
                  <a:fillRect l="-137" t="-61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A4D7576-5D36-5FFF-C7CE-010266ED7367}"/>
                  </a:ext>
                </a:extLst>
              </p:cNvPr>
              <p:cNvSpPr txBox="1"/>
              <p:nvPr/>
            </p:nvSpPr>
            <p:spPr>
              <a:xfrm>
                <a:off x="2612979" y="2069352"/>
                <a:ext cx="713464" cy="20774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A4D7576-5D36-5FFF-C7CE-010266ED7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979" y="2069352"/>
                <a:ext cx="713464" cy="20774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A0192FA-7821-97A3-4E59-A379122ADEEF}"/>
              </a:ext>
            </a:extLst>
          </p:cNvPr>
          <p:cNvSpPr txBox="1"/>
          <p:nvPr/>
        </p:nvSpPr>
        <p:spPr>
          <a:xfrm>
            <a:off x="3326443" y="2017577"/>
            <a:ext cx="3701842" cy="212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(Advection)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(Biodegradation)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(Diffusion)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(Top Boundary Condition) 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(Bottom Boundary Condition</a:t>
            </a:r>
          </a:p>
        </p:txBody>
      </p:sp>
    </p:spTree>
    <p:extLst>
      <p:ext uri="{BB962C8B-B14F-4D97-AF65-F5344CB8AC3E}">
        <p14:creationId xmlns:p14="http://schemas.microsoft.com/office/powerpoint/2010/main" val="19149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7E099C4-614C-9051-8352-80C657B2E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146"/>
          <a:stretch>
            <a:fillRect/>
          </a:stretch>
        </p:blipFill>
        <p:spPr>
          <a:xfrm>
            <a:off x="242776" y="4193523"/>
            <a:ext cx="6097064" cy="6426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E67F23-63C0-C7C0-1794-74D461112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76" y="2982881"/>
            <a:ext cx="5143869" cy="749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5FC4E8-EC75-F18D-6C2E-C4BA9A426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41" y="1471447"/>
            <a:ext cx="6380480" cy="8523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124DC6-1A42-498F-3B1F-539A1147D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521" y="132398"/>
            <a:ext cx="8234612" cy="695909"/>
          </a:xfrm>
        </p:spPr>
        <p:txBody>
          <a:bodyPr/>
          <a:lstStyle/>
          <a:p>
            <a:r>
              <a:rPr lang="en-CA" dirty="0"/>
              <a:t>Parameter Estimation Methods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AEB4D8-33EE-8DEC-D18A-AEC00E5B3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441" y="2781943"/>
            <a:ext cx="2296160" cy="11518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ontent Placeholder 9">
                <a:extLst>
                  <a:ext uri="{FF2B5EF4-FFF2-40B4-BE49-F238E27FC236}">
                    <a16:creationId xmlns:a16="http://schemas.microsoft.com/office/drawing/2014/main" id="{F067561B-6D21-CA3F-346F-3C1ADF9920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9116" y="0"/>
                <a:ext cx="2864340" cy="1387931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36EB3"/>
                  </a:buClr>
                  <a:buFont typeface="Arial" panose="020B0604020202020204" pitchFamily="34" charset="0"/>
                  <a:buChar char="•"/>
                  <a:defRPr sz="24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36EB3"/>
                  </a:buClr>
                  <a:buFont typeface="Arial" panose="020B0604020202020204" pitchFamily="34" charset="0"/>
                  <a:buChar char="•"/>
                  <a:defRPr sz="20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b="0" i="0" kern="1200">
                    <a:solidFill>
                      <a:srgbClr val="002858"/>
                    </a:solidFill>
                    <a:latin typeface="Noto Sans Light" panose="020B0402040504020204" pitchFamily="34" charset="0"/>
                    <a:ea typeface="Noto Sans Light" panose="020B0402040504020204" pitchFamily="34" charset="0"/>
                    <a:cs typeface="Noto Sans Light" panose="020B0402040504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CA" dirty="0"/>
                  <a:t>Parameter Vector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0" name="Content Placeholder 9">
                <a:extLst>
                  <a:ext uri="{FF2B5EF4-FFF2-40B4-BE49-F238E27FC236}">
                    <a16:creationId xmlns:a16="http://schemas.microsoft.com/office/drawing/2014/main" id="{F067561B-6D21-CA3F-346F-3C1ADF992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116" y="0"/>
                <a:ext cx="2864340" cy="1387931"/>
              </a:xfrm>
              <a:prstGeom prst="rect">
                <a:avLst/>
              </a:prstGeom>
              <a:blipFill>
                <a:blip r:embed="rId6"/>
                <a:stretch>
                  <a:fillRect l="-3191" t="-61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0054834-AC76-D115-E98D-C3092D2EBC78}"/>
              </a:ext>
            </a:extLst>
          </p:cNvPr>
          <p:cNvSpPr txBox="1">
            <a:spLocks/>
          </p:cNvSpPr>
          <p:nvPr/>
        </p:nvSpPr>
        <p:spPr>
          <a:xfrm>
            <a:off x="173500" y="1067932"/>
            <a:ext cx="8234611" cy="326022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4D-Var (explicit calculation of derivative)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Gauss-Levenberg-</a:t>
            </a:r>
            <a:r>
              <a:rPr lang="en-CA" dirty="0" err="1"/>
              <a:t>Marquadt</a:t>
            </a:r>
            <a:r>
              <a:rPr lang="en-CA" dirty="0"/>
              <a:t> (Newton’s Method for derivative)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Iterative Ensemble Smoother (Ensemble informs derivative)</a:t>
            </a:r>
          </a:p>
        </p:txBody>
      </p:sp>
    </p:spTree>
    <p:extLst>
      <p:ext uri="{BB962C8B-B14F-4D97-AF65-F5344CB8AC3E}">
        <p14:creationId xmlns:p14="http://schemas.microsoft.com/office/powerpoint/2010/main" val="4046695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A0B9-E913-84A2-0CF9-03790774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 World Dataset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897ECE-85B3-B9C1-2624-03EDB5C36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40" y="1407427"/>
            <a:ext cx="4480759" cy="2977196"/>
          </a:xfrm>
        </p:spPr>
        <p:txBody>
          <a:bodyPr>
            <a:normAutofit/>
          </a:bodyPr>
          <a:lstStyle/>
          <a:p>
            <a:r>
              <a:rPr lang="en-CA" dirty="0"/>
              <a:t>27 samples from 11 measurement stakes</a:t>
            </a:r>
          </a:p>
          <a:p>
            <a:r>
              <a:rPr lang="en-CA" dirty="0"/>
              <a:t>Sample length ranges from 30 to 250 days</a:t>
            </a:r>
          </a:p>
          <a:p>
            <a:r>
              <a:rPr lang="en-CA" dirty="0"/>
              <a:t>Raw measurements every 30 minutes (averaged to every 12 hours)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9CA6EB-A048-0A51-8889-CBB914D75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481" y="73330"/>
            <a:ext cx="3718569" cy="479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04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D0D6-C647-DA88-BBEC-5E3D6EF8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B338A-6589-830C-A6C3-02A2CDE53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96" y="137210"/>
            <a:ext cx="8234612" cy="695909"/>
          </a:xfrm>
        </p:spPr>
        <p:txBody>
          <a:bodyPr/>
          <a:lstStyle/>
          <a:p>
            <a:r>
              <a:rPr lang="en-CA" dirty="0"/>
              <a:t>Evaluating the Real-World Samples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7198A-81CE-D03A-4732-9880E8430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6" y="833119"/>
            <a:ext cx="3000375" cy="3869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31B90B-3223-9F4F-EA63-E446F42BA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797" y="835865"/>
            <a:ext cx="2211049" cy="3869336"/>
          </a:xfrm>
          <a:prstGeom prst="rect">
            <a:avLst/>
          </a:prstGeom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42120DD3-AE90-C429-BC5E-0DF9F02121D7}"/>
              </a:ext>
            </a:extLst>
          </p:cNvPr>
          <p:cNvSpPr/>
          <p:nvPr/>
        </p:nvSpPr>
        <p:spPr>
          <a:xfrm>
            <a:off x="2782014" y="3087618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124D6A57-69CE-4FFF-D243-2F6798173DA0}"/>
              </a:ext>
            </a:extLst>
          </p:cNvPr>
          <p:cNvSpPr/>
          <p:nvPr/>
        </p:nvSpPr>
        <p:spPr>
          <a:xfrm>
            <a:off x="2792668" y="3638225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F32F8103-BF06-1B34-AEC0-8EE18616C256}"/>
              </a:ext>
            </a:extLst>
          </p:cNvPr>
          <p:cNvSpPr/>
          <p:nvPr/>
        </p:nvSpPr>
        <p:spPr>
          <a:xfrm>
            <a:off x="4101753" y="2806473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C2F8599A-5D6B-836B-5D09-6C4D9584E3A8}"/>
              </a:ext>
            </a:extLst>
          </p:cNvPr>
          <p:cNvSpPr/>
          <p:nvPr/>
        </p:nvSpPr>
        <p:spPr>
          <a:xfrm>
            <a:off x="4191863" y="357770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3623B1-3721-800E-1AE9-FA25AAD8ED5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977238" y="2767787"/>
            <a:ext cx="731559" cy="2746"/>
          </a:xfrm>
          <a:prstGeom prst="straightConnector1">
            <a:avLst/>
          </a:prstGeom>
          <a:ln>
            <a:solidFill>
              <a:srgbClr val="1675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F49145-4038-51D4-A721-CEC2D459537C}"/>
              </a:ext>
            </a:extLst>
          </p:cNvPr>
          <p:cNvCxnSpPr>
            <a:cxnSpLocks/>
          </p:cNvCxnSpPr>
          <p:nvPr/>
        </p:nvCxnSpPr>
        <p:spPr>
          <a:xfrm flipV="1">
            <a:off x="2977238" y="3720867"/>
            <a:ext cx="813097" cy="38510"/>
          </a:xfrm>
          <a:prstGeom prst="straightConnector1">
            <a:avLst/>
          </a:prstGeom>
          <a:ln>
            <a:solidFill>
              <a:srgbClr val="1675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893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F253-81BE-E873-D4D0-64801D79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3CC4-DB92-1C3B-7511-FEB16853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96" y="137210"/>
            <a:ext cx="8234612" cy="695909"/>
          </a:xfrm>
        </p:spPr>
        <p:txBody>
          <a:bodyPr/>
          <a:lstStyle/>
          <a:p>
            <a:r>
              <a:rPr lang="en-CA" dirty="0"/>
              <a:t>Evaluating the Real-World Samples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705C1-06F6-6C1E-A925-1ED90F10E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6" y="833119"/>
            <a:ext cx="3000375" cy="3869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5A6F8F-1B18-B3B7-D968-20B6AA61D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797" y="835865"/>
            <a:ext cx="2211049" cy="3869336"/>
          </a:xfrm>
          <a:prstGeom prst="rect">
            <a:avLst/>
          </a:prstGeom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02FBF3B3-A419-2971-0EF1-C052B3F368BA}"/>
              </a:ext>
            </a:extLst>
          </p:cNvPr>
          <p:cNvSpPr/>
          <p:nvPr/>
        </p:nvSpPr>
        <p:spPr>
          <a:xfrm>
            <a:off x="2792668" y="1905101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A72880D4-2FCD-7CE3-FB5A-CE6644D90CC9}"/>
              </a:ext>
            </a:extLst>
          </p:cNvPr>
          <p:cNvSpPr/>
          <p:nvPr/>
        </p:nvSpPr>
        <p:spPr>
          <a:xfrm>
            <a:off x="2779563" y="3099511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912C17E-222C-9E87-AAA8-DF6CAE962144}"/>
              </a:ext>
            </a:extLst>
          </p:cNvPr>
          <p:cNvSpPr/>
          <p:nvPr/>
        </p:nvSpPr>
        <p:spPr>
          <a:xfrm>
            <a:off x="5650334" y="1987744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28CE62BA-D188-85F7-D895-E12F330F97E1}"/>
              </a:ext>
            </a:extLst>
          </p:cNvPr>
          <p:cNvSpPr/>
          <p:nvPr/>
        </p:nvSpPr>
        <p:spPr>
          <a:xfrm>
            <a:off x="4099578" y="2770533"/>
            <a:ext cx="184570" cy="16528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D508CC-20BC-4AAE-4831-0C5721841A91}"/>
              </a:ext>
            </a:extLst>
          </p:cNvPr>
          <p:cNvCxnSpPr>
            <a:cxnSpLocks/>
          </p:cNvCxnSpPr>
          <p:nvPr/>
        </p:nvCxnSpPr>
        <p:spPr>
          <a:xfrm>
            <a:off x="2977238" y="1529028"/>
            <a:ext cx="864717" cy="270275"/>
          </a:xfrm>
          <a:prstGeom prst="straightConnector1">
            <a:avLst/>
          </a:prstGeom>
          <a:ln>
            <a:solidFill>
              <a:srgbClr val="1675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1DE3FA-0B33-D0BB-A1D5-DD033CD4F06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009636" y="2748532"/>
            <a:ext cx="699161" cy="22001"/>
          </a:xfrm>
          <a:prstGeom prst="straightConnector1">
            <a:avLst/>
          </a:prstGeom>
          <a:ln>
            <a:solidFill>
              <a:srgbClr val="1675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C45D3C4-63F7-23D8-6717-405F2BE2E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770" y="833119"/>
            <a:ext cx="2211049" cy="38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43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CC79-670D-721E-0EE0-44A3B601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Synthetic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E94F-6D6E-A8C5-6EAB-C0A6B978D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041" y="1855922"/>
            <a:ext cx="3867150" cy="3595017"/>
          </a:xfrm>
        </p:spPr>
        <p:txBody>
          <a:bodyPr/>
          <a:lstStyle/>
          <a:p>
            <a:r>
              <a:rPr lang="en-CA" dirty="0"/>
              <a:t>600 samples</a:t>
            </a:r>
          </a:p>
          <a:p>
            <a:r>
              <a:rPr lang="en-CA" dirty="0"/>
              <a:t>Simulated Depth 4.5 m</a:t>
            </a:r>
          </a:p>
          <a:p>
            <a:r>
              <a:rPr lang="en-CA" dirty="0"/>
              <a:t>Simulated time 60 days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B4380-8271-124B-4621-BE931ED0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76"/>
          <a:stretch>
            <a:fillRect/>
          </a:stretch>
        </p:blipFill>
        <p:spPr>
          <a:xfrm>
            <a:off x="4513347" y="886752"/>
            <a:ext cx="4616442" cy="368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64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6B3D-81DC-CBF1-8499-3FB90E148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67557AA-9F1B-5234-3DE0-4DC0159C2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081" r="747"/>
          <a:stretch>
            <a:fillRect/>
          </a:stretch>
        </p:blipFill>
        <p:spPr>
          <a:xfrm>
            <a:off x="8657286" y="1281075"/>
            <a:ext cx="548640" cy="239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7ACEA7-E78A-37A0-BCD5-141807A1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Synthetic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2220D-8D70-4AE7-A6AB-BEC7B5B8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56" y="1354307"/>
            <a:ext cx="3867150" cy="3595017"/>
          </a:xfrm>
        </p:spPr>
        <p:txBody>
          <a:bodyPr/>
          <a:lstStyle/>
          <a:p>
            <a:r>
              <a:rPr lang="en-CA" dirty="0"/>
              <a:t>600 samples</a:t>
            </a:r>
          </a:p>
          <a:p>
            <a:r>
              <a:rPr lang="en-CA" dirty="0"/>
              <a:t>Simulated Depth 4.5 m</a:t>
            </a:r>
          </a:p>
          <a:p>
            <a:r>
              <a:rPr lang="en-CA" dirty="0"/>
              <a:t>Simulated time 60 days</a:t>
            </a:r>
          </a:p>
          <a:p>
            <a:r>
              <a:rPr lang="en-CA" b="1" dirty="0"/>
              <a:t>4 types of boundary conditions (top, bottom, both and no source)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21B29B-1098-52A6-D22B-CCE19B1B7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262"/>
          <a:stretch>
            <a:fillRect/>
          </a:stretch>
        </p:blipFill>
        <p:spPr>
          <a:xfrm>
            <a:off x="6116405" y="150521"/>
            <a:ext cx="2611533" cy="23962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2F4046-28F0-9E5F-68A5-B9E322993D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62" b="3590"/>
          <a:stretch>
            <a:fillRect/>
          </a:stretch>
        </p:blipFill>
        <p:spPr>
          <a:xfrm>
            <a:off x="6122405" y="2551322"/>
            <a:ext cx="2611533" cy="23102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592310-E40E-0AFB-6C05-80226D492E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262"/>
          <a:stretch>
            <a:fillRect/>
          </a:stretch>
        </p:blipFill>
        <p:spPr>
          <a:xfrm>
            <a:off x="3438067" y="173627"/>
            <a:ext cx="2611533" cy="23962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F27F5B-DE55-0B92-3C12-7DB73BA3C2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262" b="3590"/>
          <a:stretch>
            <a:fillRect/>
          </a:stretch>
        </p:blipFill>
        <p:spPr>
          <a:xfrm>
            <a:off x="3449100" y="2550836"/>
            <a:ext cx="2611533" cy="23102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3D6ACF1-0453-4627-52D9-56D59C2AA166}"/>
              </a:ext>
            </a:extLst>
          </p:cNvPr>
          <p:cNvSpPr txBox="1"/>
          <p:nvPr/>
        </p:nvSpPr>
        <p:spPr>
          <a:xfrm>
            <a:off x="4594671" y="-6163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Top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3DC5FD-59C8-115E-E0E2-D9682E93C439}"/>
              </a:ext>
            </a:extLst>
          </p:cNvPr>
          <p:cNvSpPr txBox="1"/>
          <p:nvPr/>
        </p:nvSpPr>
        <p:spPr>
          <a:xfrm>
            <a:off x="7206204" y="-7145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Bottom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BA69A9-975C-06E2-2737-9B81E1D60E65}"/>
              </a:ext>
            </a:extLst>
          </p:cNvPr>
          <p:cNvSpPr txBox="1"/>
          <p:nvPr/>
        </p:nvSpPr>
        <p:spPr>
          <a:xfrm>
            <a:off x="7167655" y="24146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Neither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C55CC9-57E9-AB34-E840-93319B2BDEAB}"/>
              </a:ext>
            </a:extLst>
          </p:cNvPr>
          <p:cNvSpPr txBox="1"/>
          <p:nvPr/>
        </p:nvSpPr>
        <p:spPr>
          <a:xfrm>
            <a:off x="4536826" y="242009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Both</a:t>
            </a:r>
          </a:p>
        </p:txBody>
      </p:sp>
    </p:spTree>
    <p:extLst>
      <p:ext uri="{BB962C8B-B14F-4D97-AF65-F5344CB8AC3E}">
        <p14:creationId xmlns:p14="http://schemas.microsoft.com/office/powerpoint/2010/main" val="359072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22AB-D94A-6E2E-B385-7B9EE7BE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Synthetic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0AE3B8-1E7E-42D1-B54A-5165DBC17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14" y="478182"/>
            <a:ext cx="3289892" cy="418713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4906A6-6DB9-FB71-DD44-4B523C983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56" y="1186667"/>
            <a:ext cx="3272987" cy="3595017"/>
          </a:xfrm>
        </p:spPr>
        <p:txBody>
          <a:bodyPr/>
          <a:lstStyle/>
          <a:p>
            <a:r>
              <a:rPr lang="en-CA" dirty="0"/>
              <a:t>600 samples</a:t>
            </a:r>
          </a:p>
          <a:p>
            <a:r>
              <a:rPr lang="en-CA" dirty="0"/>
              <a:t>Simulated Depth 4.5 m</a:t>
            </a:r>
          </a:p>
          <a:p>
            <a:r>
              <a:rPr lang="en-CA" dirty="0"/>
              <a:t>Simulated time 60 days</a:t>
            </a:r>
          </a:p>
          <a:p>
            <a:r>
              <a:rPr lang="en-CA" b="1" dirty="0"/>
              <a:t>4 types of boundary conditions (top, bottom, both and no source)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E1F217-44D4-02F5-52A9-0811D7FA9F57}"/>
                  </a:ext>
                </a:extLst>
              </p:cNvPr>
              <p:cNvSpPr txBox="1"/>
              <p:nvPr/>
            </p:nvSpPr>
            <p:spPr>
              <a:xfrm>
                <a:off x="4990092" y="642794"/>
                <a:ext cx="717504" cy="36009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endParaRPr lang="en-CA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CA" sz="2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E1F217-44D4-02F5-52A9-0811D7FA9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092" y="642794"/>
                <a:ext cx="717504" cy="3600986"/>
              </a:xfrm>
              <a:prstGeom prst="rect">
                <a:avLst/>
              </a:prstGeom>
              <a:blipFill>
                <a:blip r:embed="rId3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520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F3F3-0FD8-C5F7-9ECA-551D5CDB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B0C3-0F26-F622-BF7A-926881653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01" y="30798"/>
            <a:ext cx="8234612" cy="695909"/>
          </a:xfrm>
        </p:spPr>
        <p:txBody>
          <a:bodyPr/>
          <a:lstStyle/>
          <a:p>
            <a:r>
              <a:rPr lang="en-CA" dirty="0"/>
              <a:t>Synthetic Data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F2119-16C1-DF41-C675-52D06A5F8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484245"/>
            <a:ext cx="4495800" cy="3371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B9FFD6-476F-2F55-57A4-59351A3D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024" y="1487559"/>
            <a:ext cx="2614613" cy="337185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4406FA7-B1FD-B2DD-18AF-770DA6BF0EDE}"/>
              </a:ext>
            </a:extLst>
          </p:cNvPr>
          <p:cNvSpPr/>
          <p:nvPr/>
        </p:nvSpPr>
        <p:spPr>
          <a:xfrm>
            <a:off x="1105524" y="726707"/>
            <a:ext cx="1899227" cy="581616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Raw Simulation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3DF03D-7C37-BCC3-A9BF-D18445C63EA7}"/>
              </a:ext>
            </a:extLst>
          </p:cNvPr>
          <p:cNvSpPr/>
          <p:nvPr/>
        </p:nvSpPr>
        <p:spPr>
          <a:xfrm>
            <a:off x="5778204" y="714274"/>
            <a:ext cx="1899227" cy="581616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Measurement Format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FBEE80C-02A6-7BD6-DA48-0C214D891C06}"/>
              </a:ext>
            </a:extLst>
          </p:cNvPr>
          <p:cNvSpPr/>
          <p:nvPr/>
        </p:nvSpPr>
        <p:spPr>
          <a:xfrm>
            <a:off x="4572000" y="2908464"/>
            <a:ext cx="649546" cy="375795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DC5748-258E-DA5A-F482-BED257E49B75}"/>
              </a:ext>
            </a:extLst>
          </p:cNvPr>
          <p:cNvSpPr/>
          <p:nvPr/>
        </p:nvSpPr>
        <p:spPr>
          <a:xfrm>
            <a:off x="495787" y="2575243"/>
            <a:ext cx="3169433" cy="6604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9BBC83-9EBA-3763-1935-D66563CE59DF}"/>
              </a:ext>
            </a:extLst>
          </p:cNvPr>
          <p:cNvSpPr/>
          <p:nvPr/>
        </p:nvSpPr>
        <p:spPr>
          <a:xfrm>
            <a:off x="495787" y="3151823"/>
            <a:ext cx="3169433" cy="66040"/>
          </a:xfrm>
          <a:prstGeom prst="rect">
            <a:avLst/>
          </a:prstGeom>
          <a:noFill/>
          <a:ln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F7D7F2-E949-B507-C138-64E89ADB3636}"/>
              </a:ext>
            </a:extLst>
          </p:cNvPr>
          <p:cNvSpPr/>
          <p:nvPr/>
        </p:nvSpPr>
        <p:spPr>
          <a:xfrm>
            <a:off x="495787" y="3741103"/>
            <a:ext cx="3169433" cy="66040"/>
          </a:xfrm>
          <a:prstGeom prst="rect">
            <a:avLst/>
          </a:prstGeom>
          <a:noFill/>
          <a:ln>
            <a:solidFill>
              <a:srgbClr val="007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5279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852A6-4C00-B546-5E70-B5D618DE5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5860-C1F9-E26B-AA14-B2B51CD89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01" y="30798"/>
            <a:ext cx="8234612" cy="695909"/>
          </a:xfrm>
        </p:spPr>
        <p:txBody>
          <a:bodyPr/>
          <a:lstStyle/>
          <a:p>
            <a:r>
              <a:rPr lang="en-CA" dirty="0"/>
              <a:t>Synthetic Data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D2159F-EDCE-A459-BDD7-80131538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82" y="1866047"/>
            <a:ext cx="2684447" cy="2013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5541A-B81E-C3B6-65F8-1ACF3C110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626" y="1803550"/>
            <a:ext cx="1795395" cy="231537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E2D30A-A3AF-B943-FE9B-17149E497CBB}"/>
              </a:ext>
            </a:extLst>
          </p:cNvPr>
          <p:cNvSpPr/>
          <p:nvPr/>
        </p:nvSpPr>
        <p:spPr>
          <a:xfrm>
            <a:off x="299554" y="813853"/>
            <a:ext cx="1664896" cy="375795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Raw Simulation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ABE74C8-48F7-F03D-6AC7-73BA232A4E33}"/>
              </a:ext>
            </a:extLst>
          </p:cNvPr>
          <p:cNvSpPr/>
          <p:nvPr/>
        </p:nvSpPr>
        <p:spPr>
          <a:xfrm>
            <a:off x="2726483" y="696224"/>
            <a:ext cx="1550941" cy="484474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Measurement Format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EBB1B6A-39BA-8241-4D69-ACDB3A9DDAFD}"/>
              </a:ext>
            </a:extLst>
          </p:cNvPr>
          <p:cNvSpPr/>
          <p:nvPr/>
        </p:nvSpPr>
        <p:spPr>
          <a:xfrm>
            <a:off x="2223542" y="804903"/>
            <a:ext cx="433919" cy="375795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4974A5-3E55-A119-DA97-2B4D59AE1133}"/>
              </a:ext>
            </a:extLst>
          </p:cNvPr>
          <p:cNvSpPr/>
          <p:nvPr/>
        </p:nvSpPr>
        <p:spPr>
          <a:xfrm>
            <a:off x="252701" y="2502136"/>
            <a:ext cx="1881516" cy="4571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0DA0FD-6435-3660-35E6-209CF016B98F}"/>
              </a:ext>
            </a:extLst>
          </p:cNvPr>
          <p:cNvSpPr/>
          <p:nvPr/>
        </p:nvSpPr>
        <p:spPr>
          <a:xfrm>
            <a:off x="252701" y="2832971"/>
            <a:ext cx="1881516" cy="45719"/>
          </a:xfrm>
          <a:prstGeom prst="rect">
            <a:avLst/>
          </a:prstGeom>
          <a:noFill/>
          <a:ln>
            <a:solidFill>
              <a:srgbClr val="FF8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D16274-18D1-AF27-8069-2F9934A546C6}"/>
              </a:ext>
            </a:extLst>
          </p:cNvPr>
          <p:cNvSpPr/>
          <p:nvPr/>
        </p:nvSpPr>
        <p:spPr>
          <a:xfrm>
            <a:off x="252701" y="3186031"/>
            <a:ext cx="1881516" cy="45719"/>
          </a:xfrm>
          <a:prstGeom prst="rect">
            <a:avLst/>
          </a:prstGeom>
          <a:noFill/>
          <a:ln>
            <a:solidFill>
              <a:srgbClr val="007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C99D03F-65C7-9555-1244-3878721CBD22}"/>
              </a:ext>
            </a:extLst>
          </p:cNvPr>
          <p:cNvSpPr/>
          <p:nvPr/>
        </p:nvSpPr>
        <p:spPr>
          <a:xfrm>
            <a:off x="4464541" y="804903"/>
            <a:ext cx="433919" cy="375795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81714F-12F8-DC6B-9CD5-E9A125F383EF}"/>
              </a:ext>
            </a:extLst>
          </p:cNvPr>
          <p:cNvSpPr/>
          <p:nvPr/>
        </p:nvSpPr>
        <p:spPr>
          <a:xfrm>
            <a:off x="4923361" y="551855"/>
            <a:ext cx="1483484" cy="819743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Spatial Interpolation Method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9E90B1-77E6-3329-DED9-53CF29673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685" y="1319981"/>
            <a:ext cx="2185575" cy="3824756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F1B5252F-A9EC-0559-9C9F-618EDCEC716C}"/>
              </a:ext>
            </a:extLst>
          </p:cNvPr>
          <p:cNvSpPr/>
          <p:nvPr/>
        </p:nvSpPr>
        <p:spPr>
          <a:xfrm>
            <a:off x="6573563" y="776983"/>
            <a:ext cx="445399" cy="375795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5AC435-7D90-9857-9026-E54E75973B08}"/>
              </a:ext>
            </a:extLst>
          </p:cNvPr>
          <p:cNvSpPr/>
          <p:nvPr/>
        </p:nvSpPr>
        <p:spPr>
          <a:xfrm>
            <a:off x="7264743" y="762081"/>
            <a:ext cx="1218012" cy="375795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Estimate</a:t>
            </a:r>
          </a:p>
        </p:txBody>
      </p:sp>
    </p:spTree>
    <p:extLst>
      <p:ext uri="{BB962C8B-B14F-4D97-AF65-F5344CB8AC3E}">
        <p14:creationId xmlns:p14="http://schemas.microsoft.com/office/powerpoint/2010/main" val="1397525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64CE0-EACA-1D12-073D-98BA5730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D7C5-0B12-66C9-8614-51A3A77A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01" y="30798"/>
            <a:ext cx="8234612" cy="695909"/>
          </a:xfrm>
        </p:spPr>
        <p:txBody>
          <a:bodyPr/>
          <a:lstStyle/>
          <a:p>
            <a:r>
              <a:rPr lang="en-CA" dirty="0"/>
              <a:t>Synthetic Data Evaluation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23E6B-B543-55E1-F249-BC872DB07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82" y="1866047"/>
            <a:ext cx="2684447" cy="2013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C2943-3ED8-8A0C-B0DF-E1684704D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626" y="1803550"/>
            <a:ext cx="1795395" cy="231537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E3F77C-01BB-1223-8480-1658763C71C3}"/>
              </a:ext>
            </a:extLst>
          </p:cNvPr>
          <p:cNvSpPr/>
          <p:nvPr/>
        </p:nvSpPr>
        <p:spPr>
          <a:xfrm>
            <a:off x="299554" y="813853"/>
            <a:ext cx="1664896" cy="375795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Raw Simulation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4D2D18-0693-1D8E-72F1-19C8A71CB3C6}"/>
              </a:ext>
            </a:extLst>
          </p:cNvPr>
          <p:cNvSpPr/>
          <p:nvPr/>
        </p:nvSpPr>
        <p:spPr>
          <a:xfrm>
            <a:off x="2726483" y="696224"/>
            <a:ext cx="1550941" cy="484474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Measurement Format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1162635-DAAA-7992-D0DF-6FC68C9438CF}"/>
              </a:ext>
            </a:extLst>
          </p:cNvPr>
          <p:cNvSpPr/>
          <p:nvPr/>
        </p:nvSpPr>
        <p:spPr>
          <a:xfrm>
            <a:off x="2223542" y="804903"/>
            <a:ext cx="433919" cy="375795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2BD28A7-05B2-AA25-866E-F4EBDF4600FC}"/>
              </a:ext>
            </a:extLst>
          </p:cNvPr>
          <p:cNvSpPr/>
          <p:nvPr/>
        </p:nvSpPr>
        <p:spPr>
          <a:xfrm>
            <a:off x="4464541" y="804903"/>
            <a:ext cx="433919" cy="375795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DDB7D9-01AD-29C4-0A04-C0F1F47A5A48}"/>
              </a:ext>
            </a:extLst>
          </p:cNvPr>
          <p:cNvSpPr/>
          <p:nvPr/>
        </p:nvSpPr>
        <p:spPr>
          <a:xfrm>
            <a:off x="4923361" y="551855"/>
            <a:ext cx="1483484" cy="819743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Spatial Interpolation Method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D486976-0764-A229-8684-96D27E54AFF8}"/>
              </a:ext>
            </a:extLst>
          </p:cNvPr>
          <p:cNvSpPr/>
          <p:nvPr/>
        </p:nvSpPr>
        <p:spPr>
          <a:xfrm>
            <a:off x="6573563" y="776983"/>
            <a:ext cx="445399" cy="375795"/>
          </a:xfrm>
          <a:prstGeom prst="rightArrow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C3986B-9227-5CE7-677B-59E2B2A9C597}"/>
              </a:ext>
            </a:extLst>
          </p:cNvPr>
          <p:cNvSpPr/>
          <p:nvPr/>
        </p:nvSpPr>
        <p:spPr>
          <a:xfrm>
            <a:off x="7288623" y="696224"/>
            <a:ext cx="1218012" cy="493424"/>
          </a:xfrm>
          <a:prstGeom prst="roundRect">
            <a:avLst/>
          </a:prstGeom>
          <a:solidFill>
            <a:srgbClr val="26A7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/>
              <a:t>Estimate &amp; Evaluate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68C0C-AB69-3EBA-F330-AC1697D66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21" y="1273653"/>
            <a:ext cx="2185575" cy="38247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FCF2A8-D214-0875-EA1B-A1DD3BE80FC1}"/>
              </a:ext>
            </a:extLst>
          </p:cNvPr>
          <p:cNvSpPr/>
          <p:nvPr/>
        </p:nvSpPr>
        <p:spPr>
          <a:xfrm rot="5400000">
            <a:off x="1341126" y="2793322"/>
            <a:ext cx="1550764" cy="45721"/>
          </a:xfrm>
          <a:prstGeom prst="rect">
            <a:avLst/>
          </a:prstGeom>
          <a:noFill/>
          <a:ln>
            <a:solidFill>
              <a:srgbClr val="D758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AA246DDB-DF1F-F961-556A-7650E841209C}"/>
              </a:ext>
            </a:extLst>
          </p:cNvPr>
          <p:cNvCxnSpPr>
            <a:cxnSpLocks/>
          </p:cNvCxnSpPr>
          <p:nvPr/>
        </p:nvCxnSpPr>
        <p:spPr>
          <a:xfrm>
            <a:off x="2093647" y="3591565"/>
            <a:ext cx="5022450" cy="1009932"/>
          </a:xfrm>
          <a:prstGeom prst="curvedConnector3">
            <a:avLst>
              <a:gd name="adj1" fmla="val 80"/>
            </a:avLst>
          </a:prstGeom>
          <a:ln>
            <a:solidFill>
              <a:srgbClr val="D7582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12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3FE7-2847-F36E-2C4A-F596E5E3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Synthetic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4865FD-6CD2-F632-DEDB-169FECCF8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005" y="1221382"/>
            <a:ext cx="4518684" cy="338615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B2FBFC-77B1-5EA4-7118-85ACECDA67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628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3CCCD-DE7B-1057-8B7C-2EB19C2C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22EB-CF6E-61BA-F412-89F95481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Synthetic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FACFA-1411-58FB-0579-5DFC1D98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56" y="1495862"/>
            <a:ext cx="3512615" cy="2632238"/>
          </a:xfrm>
          <a:prstGeom prst="rect">
            <a:avLst/>
          </a:prstGeom>
        </p:spPr>
      </p:pic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B428E476-452A-ED95-41A2-686505BF61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733731" y="811161"/>
            <a:ext cx="5410270" cy="40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99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D23D-51AB-1889-33B7-338776FC8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84AF-58E3-9239-D99B-14ACBDFA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Synthetic Results Failure Modes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75C63-2ABF-1DDE-7189-9B3E9BDF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8" y="870155"/>
            <a:ext cx="2284976" cy="399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59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271C-B3F1-F713-691F-85D66411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31FD-DB28-CA24-A55A-4B145BD8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Synthetic Results Failure Modes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7C584-2C59-DA66-C589-FE9A2DAFC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8" y="870155"/>
            <a:ext cx="2284976" cy="39987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961CA5-07A9-95F0-D69B-4B3A72952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040" y="870154"/>
            <a:ext cx="2284976" cy="399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23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60B4-D7C7-D30B-DA7A-C7090E38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41" y="695909"/>
            <a:ext cx="3810732" cy="695909"/>
          </a:xfrm>
        </p:spPr>
        <p:txBody>
          <a:bodyPr>
            <a:normAutofit fontScale="90000"/>
          </a:bodyPr>
          <a:lstStyle/>
          <a:p>
            <a:r>
              <a:rPr lang="en-CA" dirty="0"/>
              <a:t>Synthetic Data Variations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8AAC8-671B-4180-97AC-1FD0500E2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7765" y="185897"/>
            <a:ext cx="3867150" cy="3595016"/>
          </a:xfrm>
        </p:spPr>
        <p:txBody>
          <a:bodyPr/>
          <a:lstStyle/>
          <a:p>
            <a:r>
              <a:rPr lang="en-CA" dirty="0"/>
              <a:t>Measurement Noise</a:t>
            </a:r>
          </a:p>
          <a:p>
            <a:r>
              <a:rPr lang="en-CA" dirty="0"/>
              <a:t>Number of Sensors</a:t>
            </a:r>
          </a:p>
          <a:p>
            <a:r>
              <a:rPr lang="en-CA" dirty="0"/>
              <a:t>Measurement Frequency </a:t>
            </a:r>
          </a:p>
          <a:p>
            <a:r>
              <a:rPr lang="en-CA" dirty="0"/>
              <a:t>Soil Parameter Noise</a:t>
            </a:r>
          </a:p>
          <a:p>
            <a:r>
              <a:rPr lang="en-CA" dirty="0"/>
              <a:t>Sensor Dropout</a:t>
            </a:r>
          </a:p>
        </p:txBody>
      </p:sp>
    </p:spTree>
    <p:extLst>
      <p:ext uri="{BB962C8B-B14F-4D97-AF65-F5344CB8AC3E}">
        <p14:creationId xmlns:p14="http://schemas.microsoft.com/office/powerpoint/2010/main" val="2385441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D816-ADDF-B155-1462-DFF8BBF16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129195D-88D8-A515-5404-039D16E2B170}"/>
              </a:ext>
            </a:extLst>
          </p:cNvPr>
          <p:cNvSpPr txBox="1">
            <a:spLocks/>
          </p:cNvSpPr>
          <p:nvPr/>
        </p:nvSpPr>
        <p:spPr>
          <a:xfrm>
            <a:off x="-1" y="-83319"/>
            <a:ext cx="4422915" cy="69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baseline="0">
                <a:solidFill>
                  <a:srgbClr val="036EB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CA"/>
              <a:t>Synthetic Data Variations</a:t>
            </a:r>
            <a:endParaRPr lang="en-CA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DD4C6C1-1871-9999-E67A-28B5EF256C44}"/>
              </a:ext>
            </a:extLst>
          </p:cNvPr>
          <p:cNvSpPr txBox="1">
            <a:spLocks/>
          </p:cNvSpPr>
          <p:nvPr/>
        </p:nvSpPr>
        <p:spPr>
          <a:xfrm>
            <a:off x="274899" y="519851"/>
            <a:ext cx="3867150" cy="208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Noise</a:t>
            </a:r>
          </a:p>
          <a:p>
            <a:r>
              <a:rPr lang="en-CA" sz="2200" b="1" dirty="0"/>
              <a:t>Number of Sensors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Frequency 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Soil Parameter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Sensor Dropout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E63902-279B-EB2A-8A62-0CD2E6AB8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940" y="0"/>
            <a:ext cx="3530060" cy="2722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5C4F18-E484-4660-86CC-655834619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73" y="2653063"/>
            <a:ext cx="7367659" cy="249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71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B3611-D342-B648-145B-67FEBE873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D7C5D0-1D05-FA46-E375-BBBF54DD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13" y="2424284"/>
            <a:ext cx="7292715" cy="271921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26A64E4-BC94-AB45-D788-14E008482F41}"/>
              </a:ext>
            </a:extLst>
          </p:cNvPr>
          <p:cNvSpPr txBox="1">
            <a:spLocks/>
          </p:cNvSpPr>
          <p:nvPr/>
        </p:nvSpPr>
        <p:spPr>
          <a:xfrm>
            <a:off x="-1" y="-83319"/>
            <a:ext cx="4422915" cy="69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baseline="0">
                <a:solidFill>
                  <a:srgbClr val="036EB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CA"/>
              <a:t>Synthetic Data Variations</a:t>
            </a:r>
            <a:endParaRPr lang="en-CA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D2C8D15-6945-F379-537C-2101F74EE91A}"/>
              </a:ext>
            </a:extLst>
          </p:cNvPr>
          <p:cNvSpPr txBox="1">
            <a:spLocks/>
          </p:cNvSpPr>
          <p:nvPr/>
        </p:nvSpPr>
        <p:spPr>
          <a:xfrm>
            <a:off x="274899" y="519851"/>
            <a:ext cx="3867150" cy="208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Number of Sensors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Frequency 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Soil Parameter Noise</a:t>
            </a:r>
          </a:p>
          <a:p>
            <a:r>
              <a:rPr lang="en-CA" sz="2200" b="1" dirty="0"/>
              <a:t>Sensor Dropout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D0FA2B-1300-C290-6544-33500249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092" y="0"/>
            <a:ext cx="3215390" cy="234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425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F887-6C45-5C1D-AF7B-BB0154C7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Real-World 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6F5BBA-49C7-C8EA-3514-57F92ACDE9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79968" y="1326629"/>
            <a:ext cx="4364027" cy="327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343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AD19-AE9B-2FA5-A125-5C6C34E0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C4B6-58C7-136A-08F5-B61284120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78" y="188010"/>
            <a:ext cx="8234612" cy="695909"/>
          </a:xfrm>
        </p:spPr>
        <p:txBody>
          <a:bodyPr/>
          <a:lstStyle/>
          <a:p>
            <a:r>
              <a:rPr lang="en-CA" dirty="0"/>
              <a:t>Real-World 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5A7DCC-B915-57F1-D899-F918431A05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8029"/>
          <a:stretch>
            <a:fillRect/>
          </a:stretch>
        </p:blipFill>
        <p:spPr>
          <a:xfrm>
            <a:off x="4529505" y="1499015"/>
            <a:ext cx="4614496" cy="3180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B95C3A-7308-00FF-A607-2CE7A3C31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99"/>
          <a:stretch>
            <a:fillRect/>
          </a:stretch>
        </p:blipFill>
        <p:spPr>
          <a:xfrm>
            <a:off x="0" y="1499015"/>
            <a:ext cx="4518684" cy="31085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E6976-D2DC-92F8-2E22-1FA3BBEA6962}"/>
              </a:ext>
            </a:extLst>
          </p:cNvPr>
          <p:cNvSpPr/>
          <p:nvPr/>
        </p:nvSpPr>
        <p:spPr>
          <a:xfrm>
            <a:off x="1272553" y="1001662"/>
            <a:ext cx="1973578" cy="411675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Synthetic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D570FF-4DB5-D9A4-0E4B-AF07B81FA6AF}"/>
              </a:ext>
            </a:extLst>
          </p:cNvPr>
          <p:cNvSpPr/>
          <p:nvPr/>
        </p:nvSpPr>
        <p:spPr>
          <a:xfrm>
            <a:off x="6056914" y="1001662"/>
            <a:ext cx="1973578" cy="411675"/>
          </a:xfrm>
          <a:prstGeom prst="roundRect">
            <a:avLst/>
          </a:prstGeom>
          <a:solidFill>
            <a:srgbClr val="0073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bg1"/>
                </a:solidFill>
              </a:rPr>
              <a:t>Real-World</a:t>
            </a:r>
          </a:p>
        </p:txBody>
      </p:sp>
    </p:spTree>
    <p:extLst>
      <p:ext uri="{BB962C8B-B14F-4D97-AF65-F5344CB8AC3E}">
        <p14:creationId xmlns:p14="http://schemas.microsoft.com/office/powerpoint/2010/main" val="862385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EAD5B-2184-3F31-6A57-E1BA3D74F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4897-1193-07E4-D13C-521B77F4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E6A082-660C-919D-2788-15C32914C4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70664" y="970547"/>
            <a:ext cx="4911112" cy="368333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7A88D9-3B88-A55D-3182-8C75440CEB7E}"/>
              </a:ext>
            </a:extLst>
          </p:cNvPr>
          <p:cNvSpPr txBox="1">
            <a:spLocks/>
          </p:cNvSpPr>
          <p:nvPr/>
        </p:nvSpPr>
        <p:spPr>
          <a:xfrm>
            <a:off x="396041" y="1690247"/>
            <a:ext cx="3867150" cy="2082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/>
              <a:t>IES is the best for max computational ability</a:t>
            </a:r>
          </a:p>
          <a:p>
            <a:r>
              <a:rPr lang="en-CA" sz="2000" dirty="0"/>
              <a:t>IDW is best for real-time and edge-computing applications</a:t>
            </a:r>
          </a:p>
          <a:p>
            <a:r>
              <a:rPr lang="en-CA" sz="2000" dirty="0"/>
              <a:t>Not as many sensors are needed on the same stake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1529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F5F5-66F3-8496-76FA-F747FAAA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Limitations/Future Work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C3DAF7-F6E7-A28F-E129-1F04CB839E96}"/>
              </a:ext>
            </a:extLst>
          </p:cNvPr>
          <p:cNvSpPr txBox="1">
            <a:spLocks/>
          </p:cNvSpPr>
          <p:nvPr/>
        </p:nvSpPr>
        <p:spPr>
          <a:xfrm>
            <a:off x="396040" y="1892610"/>
            <a:ext cx="4565703" cy="2082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/>
              <a:t>2D and 3D models needed for proper evaluation </a:t>
            </a:r>
          </a:p>
          <a:p>
            <a:r>
              <a:rPr lang="en-CA" sz="2000" dirty="0"/>
              <a:t>Separate physics models for synthetic and parameter estimation </a:t>
            </a:r>
          </a:p>
          <a:p>
            <a:r>
              <a:rPr lang="en-CA" sz="2000" dirty="0"/>
              <a:t>More extensive hyper parameter tuning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083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382C-3C8D-103F-229E-647A56B7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7439283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742768-4BB0-BF82-1C38-D22668848701}"/>
                  </a:ext>
                </a:extLst>
              </p:cNvPr>
              <p:cNvSpPr txBox="1"/>
              <p:nvPr/>
            </p:nvSpPr>
            <p:spPr>
              <a:xfrm>
                <a:off x="851948" y="3769843"/>
                <a:ext cx="6563160" cy="10990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∙(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CA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CA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b="0" dirty="0"/>
              </a:p>
              <a:p>
                <a:pPr>
                  <a:spcAft>
                    <a:spcPts val="600"/>
                  </a:spcAft>
                </a:pPr>
                <a:endParaRPr lang="en-C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742768-4BB0-BF82-1C38-D22668848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48" y="3769843"/>
                <a:ext cx="6563160" cy="10990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810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DB64-968A-DAED-0055-65E792E0C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CB41-52C5-9F22-7F37-896D2DCE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Synthetic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A92A9D-D16B-7C08-1EBD-9B0BC9713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382"/>
            <a:ext cx="4518684" cy="33861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990399-D535-AD97-729A-E61EBEE46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511" y="-7495"/>
            <a:ext cx="3388975" cy="25395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F3E3CE-8ACF-BC1D-2AD4-AF58555F3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051" y="2481885"/>
            <a:ext cx="3551817" cy="266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49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008E-BF15-6F8B-B307-7CCF1028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2A15-3759-9263-7A95-5B70FE87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83319"/>
            <a:ext cx="4422915" cy="695909"/>
          </a:xfrm>
        </p:spPr>
        <p:txBody>
          <a:bodyPr>
            <a:normAutofit fontScale="90000"/>
          </a:bodyPr>
          <a:lstStyle/>
          <a:p>
            <a:r>
              <a:rPr lang="en-CA" dirty="0"/>
              <a:t>Synthetic Data Variations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83971D-D914-1F08-A305-E9F272318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30344"/>
            <a:ext cx="9120729" cy="25131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EA381C-597A-4154-E158-763E9D07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8" t="1" r="4785" b="2207"/>
          <a:stretch>
            <a:fillRect/>
          </a:stretch>
        </p:blipFill>
        <p:spPr>
          <a:xfrm>
            <a:off x="4916474" y="60366"/>
            <a:ext cx="4118776" cy="253523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D52328-2154-43A1-FD2B-04F6CF9CCB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57B41A-8AF0-5701-F4D8-01A742C92492}"/>
              </a:ext>
            </a:extLst>
          </p:cNvPr>
          <p:cNvSpPr txBox="1">
            <a:spLocks/>
          </p:cNvSpPr>
          <p:nvPr/>
        </p:nvSpPr>
        <p:spPr>
          <a:xfrm>
            <a:off x="274899" y="519851"/>
            <a:ext cx="3867150" cy="208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b="1" dirty="0"/>
              <a:t>Measurement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Number of Sensors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Frequency 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Soil Parameter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Sensor Dropout</a:t>
            </a:r>
          </a:p>
        </p:txBody>
      </p:sp>
    </p:spTree>
    <p:extLst>
      <p:ext uri="{BB962C8B-B14F-4D97-AF65-F5344CB8AC3E}">
        <p14:creationId xmlns:p14="http://schemas.microsoft.com/office/powerpoint/2010/main" val="39698766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8E18-B2AE-793F-0F5F-EACEEDCE0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FFA2506-8C14-83D0-6941-FE836D76739F}"/>
              </a:ext>
            </a:extLst>
          </p:cNvPr>
          <p:cNvSpPr txBox="1">
            <a:spLocks/>
          </p:cNvSpPr>
          <p:nvPr/>
        </p:nvSpPr>
        <p:spPr>
          <a:xfrm>
            <a:off x="-1" y="-83319"/>
            <a:ext cx="4422915" cy="69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baseline="0">
                <a:solidFill>
                  <a:srgbClr val="036EB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CA"/>
              <a:t>Synthetic Data Variations</a:t>
            </a:r>
            <a:endParaRPr lang="en-CA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52D082B-461B-6CB7-30A7-B13F62086C81}"/>
              </a:ext>
            </a:extLst>
          </p:cNvPr>
          <p:cNvSpPr txBox="1">
            <a:spLocks/>
          </p:cNvSpPr>
          <p:nvPr/>
        </p:nvSpPr>
        <p:spPr>
          <a:xfrm>
            <a:off x="274899" y="519851"/>
            <a:ext cx="3867150" cy="208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Number of Sensors</a:t>
            </a:r>
          </a:p>
          <a:p>
            <a:r>
              <a:rPr lang="en-CA" sz="2200" b="1" dirty="0"/>
              <a:t>Measurement Frequency 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Soil Parameter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Sensor Dropout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8C3C60-98E5-37F8-0E25-1AEF5A91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084" y="0"/>
            <a:ext cx="4422916" cy="20707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F338E5-F2DE-1ECE-E9DC-E844D59B5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882" y="1989399"/>
            <a:ext cx="4422915" cy="315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565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AA14-4098-FBDF-2474-8BED5ED0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DE08D7-6A3C-1F88-AEB4-CA5DB34C0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1030"/>
            <a:ext cx="4652135" cy="264484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19C1A46-FBF1-51D0-986F-E181200DA4A5}"/>
              </a:ext>
            </a:extLst>
          </p:cNvPr>
          <p:cNvSpPr txBox="1">
            <a:spLocks/>
          </p:cNvSpPr>
          <p:nvPr/>
        </p:nvSpPr>
        <p:spPr>
          <a:xfrm>
            <a:off x="-1" y="-83319"/>
            <a:ext cx="4422915" cy="69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i="0" kern="1200" baseline="0">
                <a:solidFill>
                  <a:srgbClr val="036EB3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CA"/>
              <a:t>Synthetic Data Variations</a:t>
            </a:r>
            <a:endParaRPr lang="en-CA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DE74E58-F08C-A571-936B-5F0980C50A6C}"/>
              </a:ext>
            </a:extLst>
          </p:cNvPr>
          <p:cNvSpPr txBox="1">
            <a:spLocks/>
          </p:cNvSpPr>
          <p:nvPr/>
        </p:nvSpPr>
        <p:spPr>
          <a:xfrm>
            <a:off x="263077" y="519851"/>
            <a:ext cx="3867150" cy="208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4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36EB3"/>
              </a:buClr>
              <a:buFont typeface="Arial" panose="020B0604020202020204" pitchFamily="34" charset="0"/>
              <a:buChar char="•"/>
              <a:defRPr sz="20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02858"/>
                </a:solidFill>
                <a:latin typeface="Noto Sans Light" panose="020B0402040504020204" pitchFamily="34" charset="0"/>
                <a:ea typeface="Noto Sans Light" panose="020B0402040504020204" pitchFamily="34" charset="0"/>
                <a:cs typeface="Noto Sans Light" panose="020B04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Number of Sensors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Measurement Frequency </a:t>
            </a:r>
          </a:p>
          <a:p>
            <a:r>
              <a:rPr lang="en-CA" sz="2200" b="1" dirty="0"/>
              <a:t>Soil Parameter Noise</a:t>
            </a:r>
          </a:p>
          <a:p>
            <a:r>
              <a:rPr lang="en-CA" sz="1400" dirty="0">
                <a:solidFill>
                  <a:srgbClr val="002858">
                    <a:alpha val="50000"/>
                  </a:srgbClr>
                </a:solidFill>
              </a:rPr>
              <a:t>Sensor Dropout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8E2B56-EAE5-23FF-AD54-86C885538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397" y="0"/>
            <a:ext cx="4358970" cy="274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68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1992-BB4A-4A22-012D-4E525018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269876"/>
            <a:ext cx="5020509" cy="695909"/>
          </a:xfrm>
        </p:spPr>
        <p:txBody>
          <a:bodyPr>
            <a:noAutofit/>
          </a:bodyPr>
          <a:lstStyle/>
          <a:p>
            <a:r>
              <a:rPr lang="en-CA" sz="2500" dirty="0"/>
              <a:t>Sites Contaminated w/ Petroleum Hydrocarbons (PHC)</a:t>
            </a:r>
          </a:p>
        </p:txBody>
      </p:sp>
      <p:pic>
        <p:nvPicPr>
          <p:cNvPr id="16" name="Content Placeholder 9">
            <a:extLst>
              <a:ext uri="{FF2B5EF4-FFF2-40B4-BE49-F238E27FC236}">
                <a16:creationId xmlns:a16="http://schemas.microsoft.com/office/drawing/2014/main" id="{D252A2DF-D8C8-61EC-CFF3-B1413278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26" t="16030" r="16380" b="8348"/>
          <a:stretch>
            <a:fillRect/>
          </a:stretch>
        </p:blipFill>
        <p:spPr>
          <a:xfrm>
            <a:off x="578362" y="1185530"/>
            <a:ext cx="4655865" cy="343403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044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A7BEF-C00B-EC73-A869-8F781110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4441-65DC-3D7C-326D-E98D1CAD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87" y="89638"/>
            <a:ext cx="8234612" cy="695909"/>
          </a:xfrm>
        </p:spPr>
        <p:txBody>
          <a:bodyPr/>
          <a:lstStyle/>
          <a:p>
            <a:r>
              <a:rPr lang="en-CA" dirty="0"/>
              <a:t>Distance-Based Spatial Interpolation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83D1F0-7FB4-A255-D98D-5431375FFDE5}"/>
              </a:ext>
            </a:extLst>
          </p:cNvPr>
          <p:cNvSpPr/>
          <p:nvPr/>
        </p:nvSpPr>
        <p:spPr>
          <a:xfrm>
            <a:off x="3568972" y="1065724"/>
            <a:ext cx="2006055" cy="560355"/>
          </a:xfrm>
          <a:prstGeom prst="roundRect">
            <a:avLst/>
          </a:prstGeom>
          <a:solidFill>
            <a:srgbClr val="26A739"/>
          </a:solidFill>
          <a:ln>
            <a:solidFill>
              <a:srgbClr val="1351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Inverse Distance Weighting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ECC04D-7192-3CCE-522D-45BECA619190}"/>
                  </a:ext>
                </a:extLst>
              </p:cNvPr>
              <p:cNvSpPr txBox="1"/>
              <p:nvPr/>
            </p:nvSpPr>
            <p:spPr>
              <a:xfrm>
                <a:off x="2070099" y="2241008"/>
                <a:ext cx="5288198" cy="1075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sup>
                              </m:sSubSup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 ⋅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CA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CA" b="0" i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ECC04D-7192-3CCE-522D-45BECA619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099" y="2241008"/>
                <a:ext cx="5288198" cy="10750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668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88B4-61CC-07C4-DFC0-479C1D46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10DB-B783-2AA4-8B11-FA523ACB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41" y="269876"/>
            <a:ext cx="5839659" cy="695909"/>
          </a:xfrm>
        </p:spPr>
        <p:txBody>
          <a:bodyPr>
            <a:noAutofit/>
          </a:bodyPr>
          <a:lstStyle/>
          <a:p>
            <a:r>
              <a:rPr lang="en-CA" sz="2500" dirty="0"/>
              <a:t>Placing PHC Measurement Stakes</a:t>
            </a:r>
          </a:p>
        </p:txBody>
      </p:sp>
      <p:pic>
        <p:nvPicPr>
          <p:cNvPr id="16" name="Content Placeholder 9">
            <a:extLst>
              <a:ext uri="{FF2B5EF4-FFF2-40B4-BE49-F238E27FC236}">
                <a16:creationId xmlns:a16="http://schemas.microsoft.com/office/drawing/2014/main" id="{8C2D9B95-6B16-3A35-767B-035CE136C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26" t="16030" r="16380" b="8348"/>
          <a:stretch>
            <a:fillRect/>
          </a:stretch>
        </p:blipFill>
        <p:spPr>
          <a:xfrm>
            <a:off x="578362" y="1185530"/>
            <a:ext cx="4655865" cy="3434030"/>
          </a:xfrm>
          <a:prstGeom prst="round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04AAA3-8331-03F0-30C0-378B83333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29" t="16264" r="31509" b="6977"/>
          <a:stretch>
            <a:fillRect/>
          </a:stretch>
        </p:blipFill>
        <p:spPr>
          <a:xfrm>
            <a:off x="578362" y="1185530"/>
            <a:ext cx="4744401" cy="3434030"/>
          </a:xfrm>
          <a:prstGeom prst="round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D3E8CA-359B-8188-0A52-5322DF9DB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550" y="2680908"/>
            <a:ext cx="297269" cy="40398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55A82B-7E37-D194-8126-4B71839F9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3819" y="2598358"/>
            <a:ext cx="1328331" cy="69590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1800" dirty="0"/>
              <a:t>Sensor Stake Location</a:t>
            </a:r>
          </a:p>
        </p:txBody>
      </p:sp>
    </p:spTree>
    <p:extLst>
      <p:ext uri="{BB962C8B-B14F-4D97-AF65-F5344CB8AC3E}">
        <p14:creationId xmlns:p14="http://schemas.microsoft.com/office/powerpoint/2010/main" val="4162354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 Slide 1">
  <a:themeElements>
    <a:clrScheme name="UVic Brand Refresh">
      <a:dk1>
        <a:srgbClr val="002858"/>
      </a:dk1>
      <a:lt1>
        <a:srgbClr val="FFFFFF"/>
      </a:lt1>
      <a:dk2>
        <a:srgbClr val="002F60"/>
      </a:dk2>
      <a:lt2>
        <a:srgbClr val="BEE7F9"/>
      </a:lt2>
      <a:accent1>
        <a:srgbClr val="26A738"/>
      </a:accent1>
      <a:accent2>
        <a:srgbClr val="0073BC"/>
      </a:accent2>
      <a:accent3>
        <a:srgbClr val="002858"/>
      </a:accent3>
      <a:accent4>
        <a:srgbClr val="FDB813"/>
      </a:accent4>
      <a:accent5>
        <a:srgbClr val="0073BC"/>
      </a:accent5>
      <a:accent6>
        <a:srgbClr val="008538"/>
      </a:accent6>
      <a:hlink>
        <a:srgbClr val="FFFFFF"/>
      </a:hlink>
      <a:folHlink>
        <a:srgbClr val="00285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AM_06262_EdgePPTTmplts_16x9_white_OUTrev" id="{E37DACD6-36C3-6D4A-9C6C-CED8923AB4D3}" vid="{6B14BE1E-503F-0F44-BAAA-8D1C2E4CCE06}"/>
    </a:ext>
  </a:extLst>
</a:theme>
</file>

<file path=ppt/theme/theme2.xml><?xml version="1.0" encoding="utf-8"?>
<a:theme xmlns:a="http://schemas.openxmlformats.org/drawingml/2006/main" name="Title Slide 2">
  <a:themeElements>
    <a:clrScheme name="UVic Brand Refresh">
      <a:dk1>
        <a:srgbClr val="002858"/>
      </a:dk1>
      <a:lt1>
        <a:srgbClr val="FFFFFF"/>
      </a:lt1>
      <a:dk2>
        <a:srgbClr val="002F60"/>
      </a:dk2>
      <a:lt2>
        <a:srgbClr val="BEE7F9"/>
      </a:lt2>
      <a:accent1>
        <a:srgbClr val="26A738"/>
      </a:accent1>
      <a:accent2>
        <a:srgbClr val="0073BC"/>
      </a:accent2>
      <a:accent3>
        <a:srgbClr val="002858"/>
      </a:accent3>
      <a:accent4>
        <a:srgbClr val="FDB813"/>
      </a:accent4>
      <a:accent5>
        <a:srgbClr val="0073BC"/>
      </a:accent5>
      <a:accent6>
        <a:srgbClr val="008538"/>
      </a:accent6>
      <a:hlink>
        <a:srgbClr val="FFFFFF"/>
      </a:hlink>
      <a:folHlink>
        <a:srgbClr val="00285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AM_06262_EdgePPTTmplts_16x9_white_OUTrev" id="{E37DACD6-36C3-6D4A-9C6C-CED8923AB4D3}" vid="{6B14BE1E-503F-0F44-BAAA-8D1C2E4CCE06}"/>
    </a:ext>
  </a:extLst>
</a:theme>
</file>

<file path=ppt/theme/theme3.xml><?xml version="1.0" encoding="utf-8"?>
<a:theme xmlns:a="http://schemas.openxmlformats.org/drawingml/2006/main" name="Content Slide 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ontent Slide 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yperlink xmlns="3084634b-2aa7-4fa5-9bec-f2a99e7ad866">
      <Url xsi:nil="true"/>
      <Description xsi:nil="true"/>
    </Hyperlink>
    <TEST xmlns="3084634b-2aa7-4fa5-9bec-f2a99e7ad866" xsi:nil="true"/>
    <Imageexample_x003f_ xmlns="3084634b-2aa7-4fa5-9bec-f2a99e7ad866" xsi:nil="true"/>
    <lcf76f155ced4ddcb4097134ff3c332f xmlns="3084634b-2aa7-4fa5-9bec-f2a99e7ad86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6781699DA9134B9A08F06DE4F7F9CE" ma:contentTypeVersion="16" ma:contentTypeDescription="Create a new document." ma:contentTypeScope="" ma:versionID="8db29772acb1a8b647b51fb4415b510b">
  <xsd:schema xmlns:xsd="http://www.w3.org/2001/XMLSchema" xmlns:xs="http://www.w3.org/2001/XMLSchema" xmlns:p="http://schemas.microsoft.com/office/2006/metadata/properties" xmlns:ns2="3084634b-2aa7-4fa5-9bec-f2a99e7ad866" targetNamespace="http://schemas.microsoft.com/office/2006/metadata/properties" ma:root="true" ma:fieldsID="9187c11962bdf088f170aab5221f96ef" ns2:_="">
    <xsd:import namespace="3084634b-2aa7-4fa5-9bec-f2a99e7ad866"/>
    <xsd:element name="properties">
      <xsd:complexType>
        <xsd:sequence>
          <xsd:element name="documentManagement">
            <xsd:complexType>
              <xsd:all>
                <xsd:element ref="ns2:TEST" minOccurs="0"/>
                <xsd:element ref="ns2:Imageexample_x003f_" minOccurs="0"/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84634b-2aa7-4fa5-9bec-f2a99e7ad866" elementFormDefault="qualified">
    <xsd:import namespace="http://schemas.microsoft.com/office/2006/documentManagement/types"/>
    <xsd:import namespace="http://schemas.microsoft.com/office/infopath/2007/PartnerControls"/>
    <xsd:element name="TEST" ma:index="8" nillable="true" ma:displayName="TEST " ma:description="TEST Image" ma:format="Thumbnail" ma:internalName="TEST">
      <xsd:simpleType>
        <xsd:restriction base="dms:Unknown"/>
      </xsd:simpleType>
    </xsd:element>
    <xsd:element name="Imageexample_x003f_" ma:index="9" nillable="true" ma:displayName="Image Preview" ma:format="Thumbnail" ma:internalName="Imageexample_x003f_">
      <xsd:simpleType>
        <xsd:restriction base="dms:Unknown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fefc961-1432-4524-a5af-13225f490e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Hyperlink" ma:index="20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598738-F6A9-47E3-8A50-6B27BA2EEEF4}">
  <ds:schemaRefs>
    <ds:schemaRef ds:uri="http://purl.org/dc/elements/1.1/"/>
    <ds:schemaRef ds:uri="http://purl.org/dc/dcmitype/"/>
    <ds:schemaRef ds:uri="http://schemas.microsoft.com/office/infopath/2007/PartnerControls"/>
    <ds:schemaRef ds:uri="3084634b-2aa7-4fa5-9bec-f2a99e7ad866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69F097E-A19E-4B0C-A87C-771EE5DE8B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9CFE0A-3F58-450B-89F8-3C98A69439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84634b-2aa7-4fa5-9bec-f2a99e7ad8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63091</TotalTime>
  <Words>818</Words>
  <Application>Microsoft Office PowerPoint</Application>
  <PresentationFormat>On-screen Show (16:9)</PresentationFormat>
  <Paragraphs>249</Paragraphs>
  <Slides>52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Aptos</vt:lpstr>
      <vt:lpstr>Arial</vt:lpstr>
      <vt:lpstr>Calibri</vt:lpstr>
      <vt:lpstr>Cambria Math</vt:lpstr>
      <vt:lpstr>Noto Sans</vt:lpstr>
      <vt:lpstr>Noto Sans Light</vt:lpstr>
      <vt:lpstr>Wingdings</vt:lpstr>
      <vt:lpstr>Title Slide 1</vt:lpstr>
      <vt:lpstr>Title Slide 2</vt:lpstr>
      <vt:lpstr>Content Slide 1</vt:lpstr>
      <vt:lpstr>Content Slide 2</vt:lpstr>
      <vt:lpstr>Analysis and Comparison of Spatial Interpolation Methods for Modelling the Movement and Remediation of Hydrocarbons in Soil </vt:lpstr>
      <vt:lpstr>3D Interpolation of Petroleum Hydrocarbons (PHC)</vt:lpstr>
      <vt:lpstr>PowerPoint Presentation</vt:lpstr>
      <vt:lpstr>1D Interpolation with Depth</vt:lpstr>
      <vt:lpstr>1D Interpolation (Depth)</vt:lpstr>
      <vt:lpstr>1D Interpolation (Depth)</vt:lpstr>
      <vt:lpstr>Spatial Interpolation Methods</vt:lpstr>
      <vt:lpstr>Spatial Interpolation Methods</vt:lpstr>
      <vt:lpstr>Spatial Interpolation Methods</vt:lpstr>
      <vt:lpstr>Inverse Distance Weighting (IDW)</vt:lpstr>
      <vt:lpstr>Inverse Distance Weighting (IDW)</vt:lpstr>
      <vt:lpstr>Inverse Distance Weighting (IDW)</vt:lpstr>
      <vt:lpstr>Kriging</vt:lpstr>
      <vt:lpstr>Kriging</vt:lpstr>
      <vt:lpstr>Kriging</vt:lpstr>
      <vt:lpstr>Parameter Estimation</vt:lpstr>
      <vt:lpstr>Parameter Estimation</vt:lpstr>
      <vt:lpstr>Parameter Estimation</vt:lpstr>
      <vt:lpstr>Parameter Estimation</vt:lpstr>
      <vt:lpstr>Parameter Estimation</vt:lpstr>
      <vt:lpstr>Soil Simulation</vt:lpstr>
      <vt:lpstr>Parameter Estimation</vt:lpstr>
      <vt:lpstr>Parameter Estimation Methods</vt:lpstr>
      <vt:lpstr>Real World Dataset</vt:lpstr>
      <vt:lpstr>Evaluating the Real-World Samples</vt:lpstr>
      <vt:lpstr>Evaluating the Real-World Samples</vt:lpstr>
      <vt:lpstr>Synthetic Data</vt:lpstr>
      <vt:lpstr>Synthetic Data</vt:lpstr>
      <vt:lpstr>Synthetic Data</vt:lpstr>
      <vt:lpstr>Synthetic Data Evaluation</vt:lpstr>
      <vt:lpstr>Synthetic Data Evaluation</vt:lpstr>
      <vt:lpstr>Synthetic Data Evaluation</vt:lpstr>
      <vt:lpstr>Synthetic Results</vt:lpstr>
      <vt:lpstr>Synthetic Results</vt:lpstr>
      <vt:lpstr>Synthetic Results Failure Modes</vt:lpstr>
      <vt:lpstr>Synthetic Results Failure Modes</vt:lpstr>
      <vt:lpstr>Synthetic Data Variations</vt:lpstr>
      <vt:lpstr>PowerPoint Presentation</vt:lpstr>
      <vt:lpstr>PowerPoint Presentation</vt:lpstr>
      <vt:lpstr>Real-World Results</vt:lpstr>
      <vt:lpstr>Real-World Results</vt:lpstr>
      <vt:lpstr>Conclusions</vt:lpstr>
      <vt:lpstr>Limitations/Future Work</vt:lpstr>
      <vt:lpstr>Thanks for your attention</vt:lpstr>
      <vt:lpstr>PowerPoint Presentation</vt:lpstr>
      <vt:lpstr>Synthetic Results</vt:lpstr>
      <vt:lpstr>Synthetic Data Variations</vt:lpstr>
      <vt:lpstr>PowerPoint Presentation</vt:lpstr>
      <vt:lpstr>PowerPoint Presentation</vt:lpstr>
      <vt:lpstr>Sites Contaminated w/ Petroleum Hydrocarbons (PHC)</vt:lpstr>
      <vt:lpstr>Distance-Based Spatial Interpolation</vt:lpstr>
      <vt:lpstr>Placing PHC Measurement Stakes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subject/>
  <dc:creator>Melanie Carter</dc:creator>
  <cp:keywords/>
  <dc:description/>
  <cp:lastModifiedBy>Joshua Chapman</cp:lastModifiedBy>
  <cp:revision>107</cp:revision>
  <cp:lastPrinted>2024-11-13T22:44:28Z</cp:lastPrinted>
  <dcterms:created xsi:type="dcterms:W3CDTF">2024-09-26T18:33:03Z</dcterms:created>
  <dcterms:modified xsi:type="dcterms:W3CDTF">2026-09-25T00:21:24Z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0x010100366781699DA9134B9A08F06DE4F7F9CE</vt:lpwstr>
  </property>
</Properties>
</file>