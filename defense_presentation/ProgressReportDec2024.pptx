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66" r:id="rId4"/>
    <p:sldId id="265" r:id="rId5"/>
    <p:sldId id="262" r:id="rId6"/>
    <p:sldId id="267" r:id="rId7"/>
    <p:sldId id="258" r:id="rId8"/>
    <p:sldId id="263" r:id="rId9"/>
    <p:sldId id="269" r:id="rId10"/>
    <p:sldId id="270" r:id="rId11"/>
    <p:sldId id="257" r:id="rId12"/>
    <p:sldId id="260" r:id="rId13"/>
    <p:sldId id="261" r:id="rId14"/>
    <p:sldId id="25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91EB5-9559-4102-9AC5-4EA993A5BDDC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E3D7D-AFF1-442D-9244-0274BB9C80F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3902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E3D7D-AFF1-442D-9244-0274BB9C80FA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5561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E3D7D-AFF1-442D-9244-0274BB9C80FA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5847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Confirm those dates</a:t>
            </a:r>
          </a:p>
          <a:p>
            <a:r>
              <a:rPr lang="en-CA" dirty="0"/>
              <a:t>Add plots outlining the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DE3D7D-AFF1-442D-9244-0274BB9C80FA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1439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9D2B-6DF4-AC10-FBF2-457813AF3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50254-0C53-8A65-6731-482442101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D41B-0B30-CB26-E07B-C9DB6388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53FB8-5661-FD3D-3B23-51D86500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236A9-24A1-D197-DD18-7DE6D168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47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ED64-0DB1-0CBC-1323-6421F8F9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27E55-7A0B-391E-C670-F8ECF2D1E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BB22B-F849-B3A1-43F4-EDDD7163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8EB44-467B-CA23-281E-57764E10A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8E3F3-3937-6979-38B7-5A0D06EE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374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57CB-6B73-3966-8C42-370352C39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1A046-CD79-62C4-1D2A-2D8E2F8E4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F9F7A-D964-809B-653C-E15A00790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81404-0DB2-CC4C-592C-9D02A42EF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D83C-D748-376C-1B22-143C4CD5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165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E812-2834-B4A8-F9E4-A65D3BEC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65FE5-40A4-5AA5-73DF-1FEF5CB1D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BA0FC-77AA-FD7C-3033-65AC3EF7A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57D4F-69DC-7F86-7DCF-F51D007D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D74EA-CFDA-DC91-838C-C3F2853A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44F8B-0438-C68B-D2BF-268F7347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767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8F09-EBE6-80B5-0848-DB2F8C904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338D1-58E4-557A-1D60-DFE656C3A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0A288-F922-3DF6-EB77-C043DC401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F59F9-DD98-5215-6FC6-C8544A7DE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D3E4D9-3E37-2896-B3E2-47C1356E9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246D41-F40D-5536-6AB3-F3E45D5D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83CCC-1F8B-D873-878C-4B01B4AE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35112B-0248-D5EE-C2B6-3570C98F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6531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D086-7AED-79BE-EA7C-0E663C03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08856B-AD71-9FA1-CA1E-A415E5C9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3B966-A3DE-5023-7F44-D9934904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B5B97-025E-2FB3-040F-81668872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629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4F5A0-20DC-FFD5-7006-0DBE7974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840C4-CC3E-DE3C-0CAD-6D6B27DF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B4428-42AC-12DE-4578-77F17BD6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9263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3A11-8C79-251A-6FF3-FD2E9F07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3B89A-4691-E62E-1D9A-D14B6261B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5032F-3CA0-41B6-3D3B-9B01E278A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4C9FA-448D-C38E-CA47-22EA245F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85E6AA-55E5-B29B-7D53-D54784A4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A58B1-1AF3-9896-5288-B8E326888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882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C26DC-5C47-2AB8-8F0F-E18A2E531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60AA2-5956-1EA9-C435-DC92E17DCF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A2E68-0342-F7B0-D592-8B7AE57BB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BA83E-B782-4EF2-60B8-FFB48134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E27BF-C1EB-380D-4CF3-6E48F430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54C99-5E68-986D-8EFB-5AAE13DB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436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B711-1A19-2C34-FEA6-3000B282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6ED9F-CAAC-FC9E-193F-62B9DD340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83531-B35E-1D93-58B4-D179552D1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35A5F-07EA-0EFD-66D3-6411F9BC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33B09-7D26-A11E-D558-4F665EDD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073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A59A1-DA71-D7FE-4AD4-778D70EFF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508BF-6EE2-161B-E338-28336DF95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48B3E-C3F1-CDE4-64BB-9F2BA479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C1F5B-5883-21BD-E8D2-2C0AB8ED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06AFB-5C1B-E436-D741-5F69893F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423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197791-501E-C756-26A4-03613EF2C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C76A6-F747-B4BA-F728-C413DEBA4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3F174-303E-2E03-B029-0765955DD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A81BE-9EF6-4511-B5F7-68BC6B2230F0}" type="datetimeFigureOut">
              <a:rPr lang="en-CA" smtClean="0"/>
              <a:t>2024-12-17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24FEF-7DEF-555F-4FBF-45638D46D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D1A03-CC47-53F6-5DE2-6377DCF03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9B32D-EA64-49ED-BF1A-43E12C5077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7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43F8-C26F-A3F5-9F35-358473C36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CA" sz="6600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D9538-1F47-C36E-34D4-3A5A9E75B2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CA" dirty="0"/>
              <a:t>December 2024</a:t>
            </a:r>
            <a:endParaRPr lang="en-CA"/>
          </a:p>
          <a:p>
            <a:pPr algn="l"/>
            <a:r>
              <a:rPr lang="en-CA" dirty="0"/>
              <a:t>Joshua Chapman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614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BD94-60E7-C168-FA85-29C9D39DA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46" y="335818"/>
            <a:ext cx="10515600" cy="1325563"/>
          </a:xfrm>
        </p:spPr>
        <p:txBody>
          <a:bodyPr/>
          <a:lstStyle/>
          <a:p>
            <a:r>
              <a:rPr lang="en-CA" dirty="0"/>
              <a:t>The Problem: Spatial Estimation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16EBB5-3465-3CF7-F575-C0F68D9077D4}"/>
              </a:ext>
            </a:extLst>
          </p:cNvPr>
          <p:cNvSpPr txBox="1"/>
          <p:nvPr/>
        </p:nvSpPr>
        <p:spPr>
          <a:xfrm>
            <a:off x="-190242" y="3132774"/>
            <a:ext cx="2686553" cy="1470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Hard Problem:</a:t>
            </a:r>
          </a:p>
          <a:p>
            <a:pPr algn="ctr"/>
            <a:r>
              <a:rPr lang="en-CA" dirty="0"/>
              <a:t>What is the concentration of PHC </a:t>
            </a:r>
          </a:p>
          <a:p>
            <a:pPr algn="ctr"/>
            <a:r>
              <a:rPr lang="en-CA" dirty="0"/>
              <a:t>at an unmeasured 3D location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98F633-BCA5-2391-95A7-731026DE5C8A}"/>
              </a:ext>
            </a:extLst>
          </p:cNvPr>
          <p:cNvSpPr txBox="1"/>
          <p:nvPr/>
        </p:nvSpPr>
        <p:spPr>
          <a:xfrm>
            <a:off x="6266041" y="3406217"/>
            <a:ext cx="30282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100" dirty="0"/>
              <a:t>Slightly</a:t>
            </a:r>
            <a:r>
              <a:rPr lang="en-CA" dirty="0"/>
              <a:t> </a:t>
            </a:r>
            <a:r>
              <a:rPr lang="en-CA" b="1" dirty="0"/>
              <a:t>Easier Problem:</a:t>
            </a:r>
          </a:p>
          <a:p>
            <a:pPr algn="ctr"/>
            <a:r>
              <a:rPr lang="en-CA" dirty="0"/>
              <a:t>What is the concentration at </a:t>
            </a:r>
          </a:p>
          <a:p>
            <a:pPr algn="ctr"/>
            <a:r>
              <a:rPr lang="en-CA" dirty="0"/>
              <a:t>an unmeasured depth?</a:t>
            </a:r>
          </a:p>
        </p:txBody>
      </p:sp>
      <p:pic>
        <p:nvPicPr>
          <p:cNvPr id="20" name="Picture 19" descr="A diagram of numbers and a question mark&#10;&#10;Description automatically generated">
            <a:extLst>
              <a:ext uri="{FF2B5EF4-FFF2-40B4-BE49-F238E27FC236}">
                <a16:creationId xmlns:a16="http://schemas.microsoft.com/office/drawing/2014/main" id="{2F6A6EDF-136D-C989-F603-8F6DD2436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782" y="2397078"/>
            <a:ext cx="3940259" cy="2941607"/>
          </a:xfrm>
          <a:prstGeom prst="rect">
            <a:avLst/>
          </a:prstGeom>
        </p:spPr>
      </p:pic>
      <p:pic>
        <p:nvPicPr>
          <p:cNvPr id="22" name="Picture 21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E8F29EB0-1F0D-B74D-2F71-92B8400E7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242" y="0"/>
            <a:ext cx="2840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13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5729A-C74A-A4B2-4E17-96509216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Outline for Testing Different Methods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545DE-EDD4-626A-1B63-54296338C867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Two sensors are inputs to a given model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model produces an estimate of the sensor not included as an input</a:t>
            </a:r>
          </a:p>
        </p:txBody>
      </p:sp>
      <p:pic>
        <p:nvPicPr>
          <p:cNvPr id="14" name="Content Placeholder 13" descr="A graph of a model&#10;&#10;Description automatically generated with medium confidence">
            <a:extLst>
              <a:ext uri="{FF2B5EF4-FFF2-40B4-BE49-F238E27FC236}">
                <a16:creationId xmlns:a16="http://schemas.microsoft.com/office/drawing/2014/main" id="{A852B033-C650-D4BE-8CC8-1BCB39F59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760" y="0"/>
            <a:ext cx="5702473" cy="6637215"/>
          </a:xfrm>
        </p:spPr>
      </p:pic>
    </p:spTree>
    <p:extLst>
      <p:ext uri="{BB962C8B-B14F-4D97-AF65-F5344CB8AC3E}">
        <p14:creationId xmlns:p14="http://schemas.microsoft.com/office/powerpoint/2010/main" val="237329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1AA31-859E-21F4-5E13-A80ACF6A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Simple Methods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1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8A777E9F-B221-F8A7-666A-A8C0D98F2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986" y="0"/>
            <a:ext cx="3101625" cy="6848870"/>
          </a:xfrm>
        </p:spPr>
      </p:pic>
      <p:pic>
        <p:nvPicPr>
          <p:cNvPr id="20" name="Picture 19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EA44D40D-A991-133E-0408-4BF094E02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3" y="0"/>
            <a:ext cx="3196354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3C9D15-A4F9-6CB7-2682-9BEF455787AB}"/>
              </a:ext>
            </a:extLst>
          </p:cNvPr>
          <p:cNvSpPr txBox="1"/>
          <p:nvPr/>
        </p:nvSpPr>
        <p:spPr>
          <a:xfrm>
            <a:off x="3204135" y="2519835"/>
            <a:ext cx="3196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u="sng" dirty="0"/>
              <a:t>Inverse Distance Weighting</a:t>
            </a:r>
          </a:p>
          <a:p>
            <a:r>
              <a:rPr lang="en-CA" dirty="0"/>
              <a:t>The unknown sensor is estimated as a function of distance to the other sensors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7DE3CA-45A5-6B4E-183F-FC71047A2739}"/>
              </a:ext>
            </a:extLst>
          </p:cNvPr>
          <p:cNvSpPr txBox="1"/>
          <p:nvPr/>
        </p:nvSpPr>
        <p:spPr>
          <a:xfrm>
            <a:off x="6084245" y="3985247"/>
            <a:ext cx="2946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u="sng" dirty="0"/>
              <a:t>Kriging</a:t>
            </a:r>
          </a:p>
          <a:p>
            <a:r>
              <a:rPr lang="en-CA" dirty="0"/>
              <a:t>Also weighted as a function of distance, however the distance is determined as a function of a fitted curve</a:t>
            </a:r>
          </a:p>
        </p:txBody>
      </p:sp>
    </p:spTree>
    <p:extLst>
      <p:ext uri="{BB962C8B-B14F-4D97-AF65-F5344CB8AC3E}">
        <p14:creationId xmlns:p14="http://schemas.microsoft.com/office/powerpoint/2010/main" val="4210301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002A8-DF67-53B0-0616-30EBBB17C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CA" sz="5400" dirty="0"/>
              <a:t>Physics-Based Estimation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DC322-124A-FC73-0809-FEDD954DD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2200" dirty="0"/>
              <a:t>The physics model takes two sensors for training. The remaining sensor is used for validation.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200" dirty="0"/>
              <a:t>A gradient descent algorithm optimizes a grid-based simulation to fit to the training sensor data.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200" dirty="0"/>
              <a:t>Once optimization is complete, the simulated data at the depth of the validation sensor is extracted for comparison with the test measurements. </a:t>
            </a:r>
          </a:p>
          <a:p>
            <a:pPr marL="514350" indent="-514350">
              <a:buFont typeface="+mj-lt"/>
              <a:buAutoNum type="arabicPeriod"/>
            </a:pPr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322277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26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1B997C1D-AF25-A2E4-B72E-F15DC8A9E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245" y="1416083"/>
            <a:ext cx="2420386" cy="5425194"/>
          </a:xfrm>
          <a:prstGeom prst="rect">
            <a:avLst/>
          </a:prstGeom>
        </p:spPr>
      </p:pic>
      <p:pic>
        <p:nvPicPr>
          <p:cNvPr id="115" name="Picture 11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C62C0DD-F587-F895-5610-D5F22030B1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" y="942868"/>
            <a:ext cx="2457671" cy="5898409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E7E6F8-C366-1A62-3E09-37E323623868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2413635" y="3865880"/>
            <a:ext cx="1336116" cy="2251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C8CF7EC-98A2-3291-671E-C12252034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38" y="-264170"/>
            <a:ext cx="10555905" cy="1270070"/>
          </a:xfrm>
        </p:spPr>
        <p:txBody>
          <a:bodyPr/>
          <a:lstStyle/>
          <a:p>
            <a:r>
              <a:rPr lang="en-CA" dirty="0"/>
              <a:t>Our Approach – Physics-Based Estimation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9212FA-FE09-9326-79E7-DC820CDF9715}"/>
              </a:ext>
            </a:extLst>
          </p:cNvPr>
          <p:cNvSpPr/>
          <p:nvPr/>
        </p:nvSpPr>
        <p:spPr>
          <a:xfrm>
            <a:off x="3749751" y="3429000"/>
            <a:ext cx="1262301" cy="873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Simulation</a:t>
            </a:r>
          </a:p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Parameter Optimizer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DA8CFB-CDE8-B3FA-0E55-B8DF4DDF569F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390775" y="3785235"/>
            <a:ext cx="1358976" cy="80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DB55023-BAE0-8BE7-246A-8BEA7B5DAB7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012052" y="3865880"/>
            <a:ext cx="3803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A8F6918-B61C-F40B-9E9C-766BE59A6AB2}"/>
              </a:ext>
            </a:extLst>
          </p:cNvPr>
          <p:cNvCxnSpPr>
            <a:cxnSpLocks/>
          </p:cNvCxnSpPr>
          <p:nvPr/>
        </p:nvCxnSpPr>
        <p:spPr>
          <a:xfrm flipV="1">
            <a:off x="7653020" y="2198216"/>
            <a:ext cx="1651653" cy="1040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206A0F8-95A9-3B3B-5058-7524CB00DCFB}"/>
              </a:ext>
            </a:extLst>
          </p:cNvPr>
          <p:cNvCxnSpPr>
            <a:cxnSpLocks/>
          </p:cNvCxnSpPr>
          <p:nvPr/>
        </p:nvCxnSpPr>
        <p:spPr>
          <a:xfrm flipV="1">
            <a:off x="7653020" y="4026676"/>
            <a:ext cx="1694180" cy="173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33B65A1-A679-F2A8-32AF-637670589462}"/>
              </a:ext>
            </a:extLst>
          </p:cNvPr>
          <p:cNvCxnSpPr>
            <a:cxnSpLocks/>
          </p:cNvCxnSpPr>
          <p:nvPr/>
        </p:nvCxnSpPr>
        <p:spPr>
          <a:xfrm>
            <a:off x="7653020" y="5461000"/>
            <a:ext cx="1694180" cy="187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203F195A-DA9D-6EF3-1B0D-15CE23D2F175}"/>
              </a:ext>
            </a:extLst>
          </p:cNvPr>
          <p:cNvSpPr txBox="1"/>
          <p:nvPr/>
        </p:nvSpPr>
        <p:spPr>
          <a:xfrm>
            <a:off x="590673" y="704434"/>
            <a:ext cx="168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Measurements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663975F-E0B7-6D32-6E0E-5493E2B1E611}"/>
              </a:ext>
            </a:extLst>
          </p:cNvPr>
          <p:cNvSpPr txBox="1"/>
          <p:nvPr/>
        </p:nvSpPr>
        <p:spPr>
          <a:xfrm>
            <a:off x="5134083" y="804436"/>
            <a:ext cx="2939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Results of multiple cells from the simulation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B9A8448-5D00-996A-FFE0-D0AC2888964C}"/>
              </a:ext>
            </a:extLst>
          </p:cNvPr>
          <p:cNvSpPr txBox="1"/>
          <p:nvPr/>
        </p:nvSpPr>
        <p:spPr>
          <a:xfrm>
            <a:off x="9304673" y="652802"/>
            <a:ext cx="2816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Comparison of measurements simulation</a:t>
            </a:r>
          </a:p>
        </p:txBody>
      </p:sp>
      <p:pic>
        <p:nvPicPr>
          <p:cNvPr id="125" name="Picture 12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E57288D7-0CA3-D496-AADD-045D17B320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578" y="1211041"/>
            <a:ext cx="2684922" cy="563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99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F2551-91FD-7F74-4702-42E22C49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CA" sz="5400"/>
              <a:t>Physics Model</a:t>
            </a:r>
          </a:p>
        </p:txBody>
      </p:sp>
      <p:sp>
        <p:nvSpPr>
          <p:cNvPr id="3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A2B59-341F-C6E9-CAE6-19A770B980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" y="1945395"/>
                <a:ext cx="6713552" cy="4119172"/>
              </a:xfrm>
            </p:spPr>
            <p:txBody>
              <a:bodyPr anchor="t">
                <a:normAutofit/>
              </a:bodyPr>
              <a:lstStyle/>
              <a:p>
                <a:r>
                  <a:rPr lang="en-CA" sz="2600" b="1" dirty="0">
                    <a:latin typeface="Cambria Math" panose="02040503050406030204" pitchFamily="18" charset="0"/>
                  </a:rPr>
                  <a:t>A</a:t>
                </a:r>
                <a:r>
                  <a:rPr lang="en-CA" sz="2200" dirty="0">
                    <a:latin typeface="Cambria Math" panose="02040503050406030204" pitchFamily="18" charset="0"/>
                  </a:rPr>
                  <a:t>: Lateral Advection (% per hour)</a:t>
                </a:r>
                <a:endParaRPr lang="en-CA" sz="2200" b="0" i="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22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≤−10</m:t>
                        </m:r>
                      </m:e>
                      <m:sup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CA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CA" sz="2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CA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Chemical Reactions (unitless)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  <m:sup>
                        <m:r>
                          <a:rPr lang="en-CA" sz="22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≤−10</m:t>
                        </m:r>
                      </m:e>
                      <m:sup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CA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CA" sz="26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CA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Diffusion Coefficient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CA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per hour)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CA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CA" sz="2200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CA" sz="2200" b="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CA" sz="2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CA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A2B59-341F-C6E9-CAE6-19A770B98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" y="1945395"/>
                <a:ext cx="6713552" cy="4119172"/>
              </a:xfrm>
              <a:blipFill>
                <a:blip r:embed="rId3"/>
                <a:stretch>
                  <a:fillRect l="-1453" t="-23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0DC240-99BA-35BD-A573-7E15C8D8ACD2}"/>
                  </a:ext>
                </a:extLst>
              </p:cNvPr>
              <p:cNvSpPr txBox="1"/>
              <p:nvPr/>
            </p:nvSpPr>
            <p:spPr>
              <a:xfrm>
                <a:off x="722885" y="5407592"/>
                <a:ext cx="6563160" cy="744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∙(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 b="0" dirty="0"/>
              </a:p>
              <a:p>
                <a:pPr>
                  <a:spcAft>
                    <a:spcPts val="600"/>
                  </a:spcAft>
                </a:pPr>
                <a:endParaRPr lang="en-CA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0DC240-99BA-35BD-A573-7E15C8D8A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85" y="5407592"/>
                <a:ext cx="6563160" cy="744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 descr="A diagram of a reaction&#10;&#10;Description automatically generated">
            <a:extLst>
              <a:ext uri="{FF2B5EF4-FFF2-40B4-BE49-F238E27FC236}">
                <a16:creationId xmlns:a16="http://schemas.microsoft.com/office/drawing/2014/main" id="{8624BD66-F4C6-38EA-AC8C-11A66A3D8C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045" y="2806154"/>
            <a:ext cx="4427604" cy="3353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40B70B-2D45-C741-A2D5-57F058CE1005}"/>
                  </a:ext>
                </a:extLst>
              </p:cNvPr>
              <p:cNvSpPr txBox="1"/>
              <p:nvPr/>
            </p:nvSpPr>
            <p:spPr>
              <a:xfrm>
                <a:off x="7579360" y="1901180"/>
                <a:ext cx="3606800" cy="659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CA" sz="1800" b="0" i="1" dirty="0">
                    <a:latin typeface="Cambria Math" panose="02040503050406030204" pitchFamily="18" charset="0"/>
                  </a:rPr>
                  <a:t> </a:t>
                </a:r>
                <a:r>
                  <a:rPr lang="en-CA" sz="1800" b="0" dirty="0">
                    <a:latin typeface="Cambria Math" panose="02040503050406030204" pitchFamily="18" charset="0"/>
                  </a:rPr>
                  <a:t>is the concentration of PHC at time </a:t>
                </a: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1800" b="0" dirty="0">
                    <a:latin typeface="Cambria Math" panose="02040503050406030204" pitchFamily="18" charset="0"/>
                  </a:rPr>
                  <a:t>in location </a:t>
                </a: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1800" b="0" dirty="0">
                    <a:latin typeface="Cambria Math" panose="02040503050406030204" pitchFamily="18" charset="0"/>
                  </a:rPr>
                  <a:t>(%)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40B70B-2D45-C741-A2D5-57F058CE1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360" y="1901180"/>
                <a:ext cx="3606800" cy="659411"/>
              </a:xfrm>
              <a:prstGeom prst="rect">
                <a:avLst/>
              </a:prstGeom>
              <a:blipFill>
                <a:blip r:embed="rId6"/>
                <a:stretch>
                  <a:fillRect t="-3704" b="-1388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75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B2FD3-FC7C-5DAA-149F-CD90A3DC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E5DE109-4609-9A8C-8D4C-0A0B340F7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370329"/>
              </p:ext>
            </p:extLst>
          </p:nvPr>
        </p:nvGraphicFramePr>
        <p:xfrm>
          <a:off x="5640505" y="1320829"/>
          <a:ext cx="4517312" cy="4680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679">
                  <a:extLst>
                    <a:ext uri="{9D8B030D-6E8A-4147-A177-3AD203B41FA5}">
                      <a16:colId xmlns:a16="http://schemas.microsoft.com/office/drawing/2014/main" val="619376652"/>
                    </a:ext>
                  </a:extLst>
                </a:gridCol>
                <a:gridCol w="1518745">
                  <a:extLst>
                    <a:ext uri="{9D8B030D-6E8A-4147-A177-3AD203B41FA5}">
                      <a16:colId xmlns:a16="http://schemas.microsoft.com/office/drawing/2014/main" val="4188181003"/>
                    </a:ext>
                  </a:extLst>
                </a:gridCol>
                <a:gridCol w="1105905">
                  <a:extLst>
                    <a:ext uri="{9D8B030D-6E8A-4147-A177-3AD203B41FA5}">
                      <a16:colId xmlns:a16="http://schemas.microsoft.com/office/drawing/2014/main" val="332348696"/>
                    </a:ext>
                  </a:extLst>
                </a:gridCol>
                <a:gridCol w="1034983">
                  <a:extLst>
                    <a:ext uri="{9D8B030D-6E8A-4147-A177-3AD203B41FA5}">
                      <a16:colId xmlns:a16="http://schemas.microsoft.com/office/drawing/2014/main" val="3684716004"/>
                    </a:ext>
                  </a:extLst>
                </a:gridCol>
              </a:tblGrid>
              <a:tr h="33226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Mean-Squared Error (MSE)</a:t>
                      </a:r>
                    </a:p>
                  </a:txBody>
                  <a:tcPr marL="11347" marR="11347" marT="11347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extLst>
                  <a:ext uri="{0D108BD9-81ED-4DB2-BD59-A6C34878D82A}">
                    <a16:rowId xmlns:a16="http://schemas.microsoft.com/office/drawing/2014/main" val="1198485125"/>
                  </a:ext>
                </a:extLst>
              </a:tr>
              <a:tr h="599768">
                <a:tc>
                  <a:txBody>
                    <a:bodyPr/>
                    <a:lstStyle/>
                    <a:p>
                      <a:pPr algn="l" fontAlgn="b"/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Inverse Distance Weighting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Kriging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Physics-based</a:t>
                      </a:r>
                    </a:p>
                  </a:txBody>
                  <a:tcPr marL="11347" marR="11347" marT="11347" marB="0" anchor="b"/>
                </a:tc>
                <a:extLst>
                  <a:ext uri="{0D108BD9-81ED-4DB2-BD59-A6C34878D82A}">
                    <a16:rowId xmlns:a16="http://schemas.microsoft.com/office/drawing/2014/main" val="1310119442"/>
                  </a:ext>
                </a:extLst>
              </a:tr>
              <a:tr h="31546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Q01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 dirty="0">
                          <a:effectLst/>
                        </a:rPr>
                        <a:t>2.10E-02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u="none" strike="noStrike" dirty="0">
                          <a:effectLst/>
                        </a:rPr>
                        <a:t>1.21E-02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4.83E-02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44461045"/>
                  </a:ext>
                </a:extLst>
              </a:tr>
              <a:tr h="31546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Q02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u="none" strike="noStrike" dirty="0">
                          <a:effectLst/>
                        </a:rPr>
                        <a:t>4.97E-04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 dirty="0">
                          <a:effectLst/>
                        </a:rPr>
                        <a:t>4.85E-03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9.46E-04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12001218"/>
                  </a:ext>
                </a:extLst>
              </a:tr>
              <a:tr h="31546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Q03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0" u="none" strike="noStrike" dirty="0">
                          <a:effectLst/>
                        </a:rPr>
                        <a:t>1.80E-02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2.90E-01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1.07E-02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69804758"/>
                  </a:ext>
                </a:extLst>
              </a:tr>
              <a:tr h="31546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Q04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 dirty="0">
                          <a:effectLst/>
                        </a:rPr>
                        <a:t>3.34E-01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u="none" strike="noStrike" dirty="0">
                          <a:effectLst/>
                        </a:rPr>
                        <a:t>2.01E-01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2.46E-01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0475172"/>
                  </a:ext>
                </a:extLst>
              </a:tr>
              <a:tr h="31546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Q06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4.37E-01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u="none" strike="noStrike" dirty="0">
                          <a:effectLst/>
                        </a:rPr>
                        <a:t>1.04E-01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1.11E-01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05918087"/>
                  </a:ext>
                </a:extLst>
              </a:tr>
              <a:tr h="31546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Q07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4.64E-02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 dirty="0">
                          <a:effectLst/>
                        </a:rPr>
                        <a:t>3.12E-01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1.45E-02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6612830"/>
                  </a:ext>
                </a:extLst>
              </a:tr>
              <a:tr h="31546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Q08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 dirty="0">
                          <a:effectLst/>
                        </a:rPr>
                        <a:t>2.26E-01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 dirty="0">
                          <a:effectLst/>
                        </a:rPr>
                        <a:t>9.35E-02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7.22E-02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02997854"/>
                  </a:ext>
                </a:extLst>
              </a:tr>
              <a:tr h="31546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Q09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u="none" strike="noStrike" dirty="0">
                          <a:effectLst/>
                        </a:rPr>
                        <a:t>1.23E-02</a:t>
                      </a:r>
                      <a:endParaRPr lang="en-CA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1.05E-01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1.27E-02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1678393"/>
                  </a:ext>
                </a:extLst>
              </a:tr>
              <a:tr h="315460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 dirty="0">
                          <a:effectLst/>
                        </a:rPr>
                        <a:t>Q10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1.20E-01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3.55E-01</a:t>
                      </a:r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2.52E-02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67980719"/>
                  </a:ext>
                </a:extLst>
              </a:tr>
              <a:tr h="344206">
                <a:tc>
                  <a:txBody>
                    <a:bodyPr/>
                    <a:lstStyle/>
                    <a:p>
                      <a:pPr algn="l" fontAlgn="b"/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CA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97586779"/>
                  </a:ext>
                </a:extLst>
              </a:tr>
              <a:tr h="565103"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 dirty="0">
                          <a:effectLst/>
                        </a:rPr>
                        <a:t>Average</a:t>
                      </a:r>
                    </a:p>
                    <a:p>
                      <a:pPr algn="ctr" fontAlgn="b"/>
                      <a:r>
                        <a:rPr lang="en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MSE</a:t>
                      </a: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>
                          <a:effectLst/>
                        </a:rPr>
                        <a:t>1.35E-01</a:t>
                      </a:r>
                      <a:endParaRPr lang="en-CA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u="none" strike="noStrike" dirty="0">
                          <a:effectLst/>
                        </a:rPr>
                        <a:t>1.64E-01</a:t>
                      </a:r>
                      <a:endParaRPr lang="en-CA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347" marR="11347" marT="113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6.01E-02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41754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11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BB39E6-358D-0D3E-1E17-C38CFE069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984" y="0"/>
            <a:ext cx="31432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29D4F-929B-8A99-C02F-7274C7FF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2007" y="1681315"/>
            <a:ext cx="2892411" cy="1347019"/>
          </a:xfrm>
        </p:spPr>
        <p:txBody>
          <a:bodyPr/>
          <a:lstStyle/>
          <a:p>
            <a:r>
              <a:rPr lang="en-CA" dirty="0"/>
              <a:t>More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73BA9-C615-892F-B3A4-C8DC0E362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484" y="0"/>
            <a:ext cx="3143250" cy="6858000"/>
          </a:xfrm>
          <a:prstGeom prst="rect">
            <a:avLst/>
          </a:prstGeom>
        </p:spPr>
      </p:pic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0E4016ED-2C7D-1380-D892-835540B91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234" y="0"/>
            <a:ext cx="3143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01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F97D2-A4D6-D6A0-1F75-AAA7FFE8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831" y="0"/>
            <a:ext cx="2843756" cy="1161923"/>
          </a:xfrm>
        </p:spPr>
        <p:txBody>
          <a:bodyPr/>
          <a:lstStyle/>
          <a:p>
            <a:r>
              <a:rPr lang="en-CA" dirty="0"/>
              <a:t>The Issues</a:t>
            </a:r>
          </a:p>
        </p:txBody>
      </p:sp>
      <p:pic>
        <p:nvPicPr>
          <p:cNvPr id="5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90EB972B-A72C-45A5-BA91-C55CC2337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126" y="454025"/>
            <a:ext cx="2722694" cy="5940424"/>
          </a:xfrm>
        </p:spPr>
      </p:pic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9323C8A9-CC41-D7EB-CADD-A03FD3F47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344" y="458789"/>
            <a:ext cx="2724877" cy="5945186"/>
          </a:xfrm>
          <a:prstGeom prst="rect">
            <a:avLst/>
          </a:prstGeom>
        </p:spPr>
      </p:pic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1B6806D1-52B3-E026-994B-EC880162D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746" y="458788"/>
            <a:ext cx="2722694" cy="59404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1E8D2B-44F2-8E12-1096-B1AF177F7C18}"/>
              </a:ext>
            </a:extLst>
          </p:cNvPr>
          <p:cNvSpPr txBox="1"/>
          <p:nvPr/>
        </p:nvSpPr>
        <p:spPr>
          <a:xfrm>
            <a:off x="64374" y="896457"/>
            <a:ext cx="36477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Cells without training data trend towards extreme behavior to quickly fit the cells with training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Difficult to estimate the initial concentration of PHC at the test depth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2B5CCCD-7702-900C-B523-86CEEDBCE4B8}"/>
              </a:ext>
            </a:extLst>
          </p:cNvPr>
          <p:cNvSpPr txBox="1">
            <a:spLocks/>
          </p:cNvSpPr>
          <p:nvPr/>
        </p:nvSpPr>
        <p:spPr>
          <a:xfrm>
            <a:off x="229831" y="3037510"/>
            <a:ext cx="2843756" cy="1161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Steps for Improvement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46B8999-2D90-5C28-685B-3A99E75A63E6}"/>
              </a:ext>
            </a:extLst>
          </p:cNvPr>
          <p:cNvSpPr txBox="1">
            <a:spLocks/>
          </p:cNvSpPr>
          <p:nvPr/>
        </p:nvSpPr>
        <p:spPr>
          <a:xfrm>
            <a:off x="64374" y="4023440"/>
            <a:ext cx="3913632" cy="2679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800" dirty="0"/>
              <a:t>Limiting the parameter space</a:t>
            </a:r>
          </a:p>
          <a:p>
            <a:r>
              <a:rPr lang="en-CA" sz="1800" dirty="0"/>
              <a:t>Reducing the training time of parameter tuning</a:t>
            </a:r>
          </a:p>
          <a:p>
            <a:r>
              <a:rPr lang="en-CA" sz="1800" dirty="0"/>
              <a:t>Taking weighted averages of multiple simulation estimates</a:t>
            </a:r>
          </a:p>
          <a:p>
            <a:r>
              <a:rPr lang="en-CA" sz="1800" dirty="0"/>
              <a:t>Determining a better method for determining the initial concentration of the unknown sensor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35638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384D1-0859-1784-4D88-EFC8B04B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Pre-processing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32C5C-E4EA-5C4A-74D4-1C831A052ED8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Data averaged to 12 hours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Data selected from Aug 12-Oct 12</a:t>
            </a:r>
          </a:p>
        </p:txBody>
      </p:sp>
      <p:pic>
        <p:nvPicPr>
          <p:cNvPr id="5" name="Content Placeholder 4" descr="A graph of a graph showing a curve&#10;&#10;Description automatically generated with medium confidence">
            <a:extLst>
              <a:ext uri="{FF2B5EF4-FFF2-40B4-BE49-F238E27FC236}">
                <a16:creationId xmlns:a16="http://schemas.microsoft.com/office/drawing/2014/main" id="{953205BD-DBA0-55AD-C8E1-747958BDC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65" y="2290936"/>
            <a:ext cx="9483478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2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5C886-C790-58E3-3E42-37527E9C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49675"/>
            <a:ext cx="4284420" cy="1455528"/>
          </a:xfrm>
        </p:spPr>
        <p:txBody>
          <a:bodyPr anchor="t">
            <a:normAutofit/>
          </a:bodyPr>
          <a:lstStyle/>
          <a:p>
            <a:r>
              <a:rPr lang="en-CA">
                <a:solidFill>
                  <a:schemeClr val="bg1"/>
                </a:solidFill>
              </a:rPr>
              <a:t>Spatial Estimation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642750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D8D0-98A3-5CAD-9A34-8EE37E3C3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606" y="1621066"/>
            <a:ext cx="4328296" cy="1263091"/>
          </a:xfrm>
        </p:spPr>
        <p:txBody>
          <a:bodyPr>
            <a:normAutofit/>
          </a:bodyPr>
          <a:lstStyle/>
          <a:p>
            <a:r>
              <a:rPr lang="en-CA" sz="1600" dirty="0">
                <a:solidFill>
                  <a:schemeClr val="bg1"/>
                </a:solidFill>
              </a:rPr>
              <a:t>Inverse Distance Weighting</a:t>
            </a:r>
          </a:p>
          <a:p>
            <a:pPr marL="0" indent="0">
              <a:buNone/>
            </a:pPr>
            <a:endParaRPr lang="en-CA" sz="1600" dirty="0">
              <a:solidFill>
                <a:schemeClr val="bg1"/>
              </a:solidFill>
            </a:endParaRPr>
          </a:p>
          <a:p>
            <a:r>
              <a:rPr lang="en-CA" sz="1600" dirty="0">
                <a:solidFill>
                  <a:schemeClr val="bg1"/>
                </a:solidFill>
              </a:rPr>
              <a:t>Kriging using exponential, linear, spherical &amp; gaussian models</a:t>
            </a:r>
          </a:p>
        </p:txBody>
      </p:sp>
      <p:pic>
        <p:nvPicPr>
          <p:cNvPr id="11" name="Picture 10" descr="A graph of blue dots&#10;&#10;Description automatically generated">
            <a:extLst>
              <a:ext uri="{FF2B5EF4-FFF2-40B4-BE49-F238E27FC236}">
                <a16:creationId xmlns:a16="http://schemas.microsoft.com/office/drawing/2014/main" id="{9D8B2553-9F07-DBC9-1D10-90EB371F8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06" y="3257906"/>
            <a:ext cx="4301795" cy="3226346"/>
          </a:xfrm>
          <a:prstGeom prst="rect">
            <a:avLst/>
          </a:prstGeom>
        </p:spPr>
      </p:pic>
      <p:pic>
        <p:nvPicPr>
          <p:cNvPr id="9" name="Picture 8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D0DFE733-DE3E-D2DF-A55B-16976F761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162" y="642750"/>
            <a:ext cx="5791665" cy="2418020"/>
          </a:xfrm>
          <a:prstGeom prst="rect">
            <a:avLst/>
          </a:prstGeom>
        </p:spPr>
      </p:pic>
      <p:pic>
        <p:nvPicPr>
          <p:cNvPr id="7" name="Picture 6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051F7B15-B5C5-4551-4C8E-8BD2EB11F1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5" y="3935575"/>
            <a:ext cx="5791664" cy="241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98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660BF-2A8F-CE2B-724F-BC9349A4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98" y="1106034"/>
            <a:ext cx="501907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Parameter Estimation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Picture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3BE4C2C5-28A2-2EB1-484B-CCA406BDD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215" y="625683"/>
            <a:ext cx="5639687" cy="235456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graph with orange lines and blue lines&#10;&#10;Description automatically generated">
            <a:extLst>
              <a:ext uri="{FF2B5EF4-FFF2-40B4-BE49-F238E27FC236}">
                <a16:creationId xmlns:a16="http://schemas.microsoft.com/office/drawing/2014/main" id="{82F007FC-168D-15D0-939D-A4B6DFA01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221" y="3550310"/>
            <a:ext cx="5639684" cy="235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60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63D51-3E2D-1958-CCF2-BC40757FC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Performance on unseen data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90DB7-A0BE-0E89-21B7-BE1CC20F0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540" y="4371868"/>
            <a:ext cx="5836920" cy="2432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08623-640C-C7B1-6009-9A663E90C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376" y="1256973"/>
            <a:ext cx="5677776" cy="2365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748A24-0841-FDC7-4C02-E71C164177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88" y="1390458"/>
            <a:ext cx="5037048" cy="209877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8C3123-01F7-FED4-0728-B83D13AE1AB3}"/>
              </a:ext>
            </a:extLst>
          </p:cNvPr>
          <p:cNvCxnSpPr>
            <a:stCxn id="9" idx="3"/>
            <a:endCxn id="7" idx="1"/>
          </p:cNvCxnSpPr>
          <p:nvPr/>
        </p:nvCxnSpPr>
        <p:spPr>
          <a:xfrm>
            <a:off x="5205336" y="2439843"/>
            <a:ext cx="1232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FEA6BB-20F8-2DC3-6B4B-329B54B6DEEF}"/>
              </a:ext>
            </a:extLst>
          </p:cNvPr>
          <p:cNvCxnSpPr>
            <a:stCxn id="7" idx="2"/>
            <a:endCxn id="5" idx="0"/>
          </p:cNvCxnSpPr>
          <p:nvPr/>
        </p:nvCxnSpPr>
        <p:spPr>
          <a:xfrm flipH="1">
            <a:off x="6096000" y="3622713"/>
            <a:ext cx="3180264" cy="749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469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16E7-D2EA-9DAB-5234-7E547090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CA6F8-EBDA-2904-8CFC-5038EB173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100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7180</TotalTime>
  <Words>437</Words>
  <Application>Microsoft Office PowerPoint</Application>
  <PresentationFormat>Widescreen</PresentationFormat>
  <Paragraphs>106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Calibri</vt:lpstr>
      <vt:lpstr>Cambria Math</vt:lpstr>
      <vt:lpstr>Office Theme</vt:lpstr>
      <vt:lpstr>Progress Report</vt:lpstr>
      <vt:lpstr>The Problem: Spatial Estimation</vt:lpstr>
      <vt:lpstr>Outline for Testing Different Methods</vt:lpstr>
      <vt:lpstr>Simple Methods</vt:lpstr>
      <vt:lpstr>Physics-Based Estimation</vt:lpstr>
      <vt:lpstr>Our Approach – Physics-Based Estimation</vt:lpstr>
      <vt:lpstr>Physics Model</vt:lpstr>
      <vt:lpstr>Comparison</vt:lpstr>
      <vt:lpstr>More comparison</vt:lpstr>
      <vt:lpstr>The Issues</vt:lpstr>
      <vt:lpstr>Pre-processing</vt:lpstr>
      <vt:lpstr>Spatial Estimation</vt:lpstr>
      <vt:lpstr>Parameter Estimation</vt:lpstr>
      <vt:lpstr>Performance on unseen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Chapman</dc:creator>
  <cp:lastModifiedBy>Joshua Chapman</cp:lastModifiedBy>
  <cp:revision>2</cp:revision>
  <dcterms:created xsi:type="dcterms:W3CDTF">2024-12-05T20:39:38Z</dcterms:created>
  <dcterms:modified xsi:type="dcterms:W3CDTF">2024-12-17T19:15:32Z</dcterms:modified>
</cp:coreProperties>
</file>